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5d576c894e4ec6" /><Relationship Type="http://schemas.openxmlformats.org/officeDocument/2006/relationships/extended-properties" Target="/docProps/app.xml" Id="R9586c428e7f94470" /><Relationship Type="http://schemas.openxmlformats.org/officeDocument/2006/relationships/officeDocument" Target="/ppt/presentation.xml" Id="R62f1a92a18c94a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d0d75003204c6e"/>
  </p:sldMasterIdLst>
  <p:notesMasterIdLst>
    <p:notesMasterId xmlns:r="http://schemas.openxmlformats.org/officeDocument/2006/relationships" r:id="R0396ecbea5be4461"/>
  </p:notesMasterIdLst>
  <p:sldIdLst>
    <p:sldId xmlns:r="http://schemas.openxmlformats.org/officeDocument/2006/relationships" id="256" r:id="Rc6316902275a4606"/>
  </p:sldIdLst>
  <p:sldSz cx="8481391" cy="4876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348931b6d447d4" /><Relationship Type="http://schemas.openxmlformats.org/officeDocument/2006/relationships/slideMaster" Target="/ppt/slideMasters/slideMaster1.xml" Id="R7dd0d75003204c6e" /><Relationship Type="http://schemas.openxmlformats.org/officeDocument/2006/relationships/notesMaster" Target="/ppt/notesMasters/notesMaster1.xml" Id="R0396ecbea5be4461" /><Relationship Type="http://schemas.openxmlformats.org/officeDocument/2006/relationships/presProps" Target="/ppt/presProps.xml" Id="Rad6ef78a0f11449d" /><Relationship Type="http://schemas.openxmlformats.org/officeDocument/2006/relationships/tableStyles" Target="/ppt/tableStyles.xml" Id="Rcf1a20f2fad84c05" /><Relationship Type="http://schemas.openxmlformats.org/officeDocument/2006/relationships/slide" Target="/ppt/slides/slide1.xml" Id="Rc6316902275a46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56fa30681e4e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87815db41b48e6" /><Relationship Type="http://schemas.openxmlformats.org/officeDocument/2006/relationships/notesMaster" Target="/ppt/notesMasters/notesMaster1.xml" Id="Rf11056cb0b7a41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Single-page long data-news. Layout authority: SVG viewBox 1024×5888, export 2160×12420. PPTX adapter is uniformly scaled to height5120px to keep under56-inch physical page size. Native text and data geometry are editable, charts are shape objects, not linked workbook charts. Four separate Image-2 illustrations are raster pictures. Sources and methodological boundaries: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"title": "AI进了工作流，收益还在路上",</a:t>
            </a:r>
          </a:p>
          <a:p xmlns:a="http://schemas.openxmlformats.org/drawingml/2006/main">
            <a:r>
              <a:t>  "accessed": "2026-10-06",</a:t>
            </a:r>
          </a:p>
          <a:p xmlns:a="http://schemas.openxmlformats.org/drawingml/2006/main">
            <a:r>
              <a:t>  "canvas": {</a:t>
            </a:r>
          </a:p>
          <a:p xmlns:a="http://schemas.openxmlformats.org/drawingml/2006/main">
            <a:r>
              <a:t>    "width": 1024,</a:t>
            </a:r>
          </a:p>
          <a:p xmlns:a="http://schemas.openxmlformats.org/drawingml/2006/main">
            <a:r>
              <a:t>    "height": 5888,</a:t>
            </a:r>
          </a:p>
          <a:p xmlns:a="http://schemas.openxmlformats.org/drawingml/2006/main">
            <a:r>
              <a:t>    "export_width": 2160,</a:t>
            </a:r>
          </a:p>
          <a:p xmlns:a="http://schemas.openxmlformats.org/drawingml/2006/main">
            <a:r>
              <a:t>    "export_height": 12420,</a:t>
            </a:r>
          </a:p>
          <a:p xmlns:a="http://schemas.openxmlformats.org/drawingml/2006/main">
            <a:r>
              <a:t>    "adapter_scale": 0.8695652173913043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"style": {</a:t>
            </a:r>
          </a:p>
          <a:p xmlns:a="http://schemas.openxmlformats.org/drawingml/2006/main">
            <a:r>
              <a:t>    "name": "纸上工作现场",</a:t>
            </a:r>
          </a:p>
          <a:p xmlns:a="http://schemas.openxmlformats.org/drawingml/2006/main">
            <a:r>
              <a:t>    "background": "#F6F1E8",</a:t>
            </a:r>
          </a:p>
          <a:p xmlns:a="http://schemas.openxmlformats.org/drawingml/2006/main">
            <a:r>
              <a:t>    "ink": "#171C1C",</a:t>
            </a:r>
          </a:p>
          <a:p xmlns:a="http://schemas.openxmlformats.org/drawingml/2006/main">
            <a:r>
              <a:t>    "orange": "#B8432F",</a:t>
            </a:r>
          </a:p>
          <a:p xmlns:a="http://schemas.openxmlformats.org/drawingml/2006/main">
            <a:r>
              <a:t>    "teal": "#1F5260",</a:t>
            </a:r>
          </a:p>
          <a:p xmlns:a="http://schemas.openxmlformats.org/drawingml/2006/main">
            <a:r>
              <a:t>    "muted": "#65716C",</a:t>
            </a:r>
          </a:p>
          <a:p xmlns:a="http://schemas.openxmlformats.org/drawingml/2006/main">
            <a:r>
              <a:t>    "serif": "Noto Serif SC",</a:t>
            </a:r>
          </a:p>
          <a:p xmlns:a="http://schemas.openxmlformats.org/drawingml/2006/main">
            <a:r>
              <a:t>    "sans": "Noto Sans SC",</a:t>
            </a:r>
          </a:p>
          <a:p xmlns:a="http://schemas.openxmlformats.org/drawingml/2006/main">
            <a:r>
              <a:t>    "image_model": "Image-2",</a:t>
            </a:r>
          </a:p>
          <a:p xmlns:a="http://schemas.openxmlformats.org/drawingml/2006/main">
            <a:r>
              <a:t>    "illustrations": "four separate generated images; text and data are native objects"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"S1",</a:t>
            </a:r>
          </a:p>
          <a:p xmlns:a="http://schemas.openxmlformats.org/drawingml/2006/main">
            <a:r>
              <a:t>      "title": "McKinsey — The state of AI in 2026: On the road to ROI",</a:t>
            </a:r>
          </a:p>
          <a:p xmlns:a="http://schemas.openxmlformats.org/drawingml/2006/main">
            <a:r>
              <a:t>      "url": "https://www.mckinsey.com/capabilities/quantumblack/our-insights/the-state-of-ai",</a:t>
            </a:r>
          </a:p>
          <a:p xmlns:a="http://schemas.openxmlformats.org/drawingml/2006/main">
            <a:r>
              <a:t>      "published": "2026-08-25",</a:t>
            </a:r>
          </a:p>
          <a:p xmlns:a="http://schemas.openxmlformats.org/drawingml/2006/main">
            <a:r>
              <a:t>      "survey": "2026-05-04至06-08，1719名受访者，97个国家，按各国GDP加权；企业员工自报，不代表所有企业普查"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"S2",</a:t>
            </a:r>
          </a:p>
          <a:p xmlns:a="http://schemas.openxmlformats.org/drawingml/2006/main">
            <a:r>
              <a:t>      "title": "Stanford HAI — AI Index Report 2026, Technical Performance",</a:t>
            </a:r>
          </a:p>
          <a:p xmlns:a="http://schemas.openxmlformats.org/drawingml/2006/main">
            <a:r>
              <a:t>      "url": "https://hai.stanford.edu/assets/files/ai_index_report_2026_chapter_2_technical.pdf",</a:t>
            </a:r>
          </a:p>
          <a:p xmlns:a="http://schemas.openxmlformats.org/drawingml/2006/main">
            <a:r>
              <a:t>      "pages": "113–114（PDF页序46–47）",</a:t>
            </a:r>
          </a:p>
          <a:p xmlns:a="http://schemas.openxmlformats.org/drawingml/2006/main">
            <a:r>
              <a:t>      "period": "报告记录的2025至2026年初领先结果，不是2026年10月实时排行榜"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"S3",</a:t>
            </a:r>
          </a:p>
          <a:p xmlns:a="http://schemas.openxmlformats.org/drawingml/2006/main">
            <a:r>
              <a:t>      "title": "METR — We are Changing our Developer Productivity Experiment Design",</a:t>
            </a:r>
          </a:p>
          <a:p xmlns:a="http://schemas.openxmlformats.org/drawingml/2006/main">
            <a:r>
              <a:t>      "url": "https://metr.org/blog/2026-02-24-uplift-update/",</a:t>
            </a:r>
          </a:p>
          <a:p xmlns:a="http://schemas.openxmlformats.org/drawingml/2006/main">
            <a:r>
              <a:t>      "published": "2026-02-24",</a:t>
            </a:r>
          </a:p>
          <a:p xmlns:a="http://schemas.openxmlformats.org/drawingml/2006/main">
            <a:r>
              <a:t>      "caution": "2025后期数据受参与者及任务选择偏差影响，作者认为不足以可靠估计当前提速幅度；区间是95%置信区间"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"S4",</a:t>
            </a:r>
          </a:p>
          <a:p xmlns:a="http://schemas.openxmlformats.org/drawingml/2006/main">
            <a:r>
              <a:t>      "title": "IEA — Key Questions on Energy and AI, Executive summary",</a:t>
            </a:r>
          </a:p>
          <a:p xmlns:a="http://schemas.openxmlformats.org/drawingml/2006/main">
            <a:r>
              <a:t>      "url": "https://www.iea.org/reports/key-questions-on-energy-and-ai/executive-summary",</a:t>
            </a:r>
          </a:p>
          <a:p xmlns:a="http://schemas.openxmlformats.org/drawingml/2006/main">
            <a:r>
              <a:t>      "published": "2026",</a:t>
            </a:r>
          </a:p>
          <a:p xmlns:a="http://schemas.openxmlformats.org/drawingml/2006/main">
            <a:r>
              <a:t>      "caution": "数据中心总用电不是AI单独用电；2030为中心情景预测，2025为估计值"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"figures":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"F1",</a:t>
            </a:r>
          </a:p>
          <a:p xmlns:a="http://schemas.openxmlformats.org/drawingml/2006/main">
            <a:r>
              <a:t>      "source": "S1",</a:t>
            </a:r>
          </a:p>
          <a:p xmlns:a="http://schemas.openxmlformats.org/drawingml/2006/main">
            <a:r>
              <a:t>      "metric": "报告在全企业范围扩大AI部署的受访者占比",</a:t>
            </a:r>
          </a:p>
          <a:p xmlns:a="http://schemas.openxmlformats.org/drawingml/2006/main">
            <a:r>
              <a:t>      "unit": "%",</a:t>
            </a:r>
          </a:p>
          <a:p xmlns:a="http://schemas.openxmlformats.org/drawingml/2006/main">
            <a:r>
              <a:t>      "values": {</a:t>
            </a:r>
          </a:p>
          <a:p xmlns:a="http://schemas.openxmlformats.org/drawingml/2006/main">
            <a:r>
              <a:t>        "2025": 38,</a:t>
            </a:r>
          </a:p>
          <a:p xmlns:a="http://schemas.openxmlformats.org/drawingml/2006/main">
            <a:r>
              <a:t>        "2026": 44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"derivation": "+6个百分点；2025基线按2026报告所给，未拼接旧网页摘要"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"F2",</a:t>
            </a:r>
          </a:p>
          <a:p xmlns:a="http://schemas.openxmlformats.org/drawingml/2006/main">
            <a:r>
              <a:t>      "source": "S1",</a:t>
            </a:r>
          </a:p>
          <a:p xmlns:a="http://schemas.openxmlformats.org/drawingml/2006/main">
            <a:r>
              <a:t>      "metric": "在至少一个职能扩大AI智能体部署的受访者占比",</a:t>
            </a:r>
          </a:p>
          <a:p xmlns:a="http://schemas.openxmlformats.org/drawingml/2006/main">
            <a:r>
              <a:t>      "unit": "%",</a:t>
            </a:r>
          </a:p>
          <a:p xmlns:a="http://schemas.openxmlformats.org/drawingml/2006/main">
            <a:r>
              <a:t>      "large_revenue": "年收入超过10亿美元",</a:t>
            </a:r>
          </a:p>
          <a:p xmlns:a="http://schemas.openxmlformats.org/drawingml/2006/main">
            <a:r>
              <a:t>      "values": {</a:t>
            </a:r>
          </a:p>
          <a:p xmlns:a="http://schemas.openxmlformats.org/drawingml/2006/main">
            <a:r>
              <a:t>        "large2025": 27,</a:t>
            </a:r>
          </a:p>
          <a:p xmlns:a="http://schemas.openxmlformats.org/drawingml/2006/main">
            <a:r>
              <a:t>        "large2026": 40,</a:t>
            </a:r>
          </a:p>
          <a:p xmlns:a="http://schemas.openxmlformats.org/drawingml/2006/main">
            <a:r>
              <a:t>        "small2025": 22,</a:t>
            </a:r>
          </a:p>
          <a:p xmlns:a="http://schemas.openxmlformats.org/drawingml/2006/main">
            <a:r>
              <a:t>        "small2026": 22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"derivation": "大型组织+13个百分点，较小组织基本持平；非同一企业跟踪面板"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"F3",</a:t>
            </a:r>
          </a:p>
          <a:p xmlns:a="http://schemas.openxmlformats.org/drawingml/2006/main">
            <a:r>
              <a:t>      "source": "S2",</a:t>
            </a:r>
          </a:p>
          <a:p xmlns:a="http://schemas.openxmlformats.org/drawingml/2006/main">
            <a:r>
              <a:t>      "metric": "报告记录的领先AI与人类基线，按各自评测定义的任务表现",</a:t>
            </a:r>
          </a:p>
          <a:p xmlns:a="http://schemas.openxmlformats.org/drawingml/2006/main">
            <a:r>
              <a:t>      "unit": "%",</a:t>
            </a:r>
          </a:p>
          <a:p xmlns:a="http://schemas.openxmlformats.org/drawingml/2006/main">
            <a:r>
              <a:t>      "values": {</a:t>
            </a:r>
          </a:p>
          <a:p xmlns:a="http://schemas.openxmlformats.org/drawingml/2006/main">
            <a:r>
              <a:t>        "OSWorld_AI": 66.3,</a:t>
            </a:r>
          </a:p>
          <a:p xmlns:a="http://schemas.openxmlformats.org/drawingml/2006/main">
            <a:r>
              <a:t>        "OSWorld_human": 72.35,</a:t>
            </a:r>
          </a:p>
          <a:p xmlns:a="http://schemas.openxmlformats.org/drawingml/2006/main">
            <a:r>
              <a:t>        "WebArena_AI": 74.3,</a:t>
            </a:r>
          </a:p>
          <a:p xmlns:a="http://schemas.openxmlformats.org/drawingml/2006/main">
            <a:r>
              <a:t>        "WebArena_human": 78.24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"caution": "不同基准各自比较，不合成总分；圆整显示人类基线72.4、78.2，几何用原始值"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"F4",</a:t>
            </a:r>
          </a:p>
          <a:p xmlns:a="http://schemas.openxmlformats.org/drawingml/2006/main">
            <a:r>
              <a:t>      "source": "S1",</a:t>
            </a:r>
          </a:p>
          <a:p xmlns:a="http://schemas.openxmlformats.org/drawingml/2006/main">
            <a:r>
              <a:t>      "metric": "称企业因可用编码智能体自建，放弃至少一项软件产品或功能采购的受访者占比",</a:t>
            </a:r>
          </a:p>
          <a:p xmlns:a="http://schemas.openxmlformats.org/drawingml/2006/main">
            <a:r>
              <a:t>      "unit": "%",</a:t>
            </a:r>
          </a:p>
          <a:p xmlns:a="http://schemas.openxmlformats.org/drawingml/2006/main">
            <a:r>
              <a:t>      "values": {</a:t>
            </a:r>
          </a:p>
          <a:p xmlns:a="http://schemas.openxmlformats.org/drawingml/2006/main">
            <a:r>
              <a:t>        "yes": 32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"caution": "100格中32格着色，剩余68格只是其他回应；不是软件市场份额"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"F5",</a:t>
            </a:r>
          </a:p>
          <a:p xmlns:a="http://schemas.openxmlformats.org/drawingml/2006/main">
            <a:r>
              <a:t>      "source": "S1",</a:t>
            </a:r>
          </a:p>
          <a:p xmlns:a="http://schemas.openxmlformats.org/drawingml/2006/main">
            <a:r>
              <a:t>      "metric": "三种不同问卷问题的肯定回应占比",</a:t>
            </a:r>
          </a:p>
          <a:p xmlns:a="http://schemas.openxmlformats.org/drawingml/2006/main">
            <a:r>
              <a:t>      "unit": "%",</a:t>
            </a:r>
          </a:p>
          <a:p xmlns:a="http://schemas.openxmlformats.org/drawingml/2006/main">
            <a:r>
              <a:t>      "values": {</a:t>
            </a:r>
          </a:p>
          <a:p xmlns:a="http://schemas.openxmlformats.org/drawingml/2006/main">
            <a:r>
              <a:t>        "individual_productivity": 80,</a:t>
            </a:r>
          </a:p>
          <a:p xmlns:a="http://schemas.openxmlformats.org/drawingml/2006/main">
            <a:r>
              <a:t>        "better_decisions": 50,</a:t>
            </a:r>
          </a:p>
          <a:p xmlns:a="http://schemas.openxmlformats.org/drawingml/2006/main">
            <a:r>
              <a:t>        "enterprise_EBIT": 37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"caution": "彼此不是互斥类别，不加总，不画漏斗；EBIT=息税前利润"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"F6",</a:t>
            </a:r>
          </a:p>
          <a:p xmlns:a="http://schemas.openxmlformats.org/drawingml/2006/main">
            <a:r>
              <a:t>      "source": "S3",</a:t>
            </a:r>
          </a:p>
          <a:p xmlns:a="http://schemas.openxmlformats.org/drawingml/2006/main">
            <a:r>
              <a:t>      "metric": "AI允许组相对不允许组完成任务所需时间的变化",</a:t>
            </a:r>
          </a:p>
          <a:p xmlns:a="http://schemas.openxmlformats.org/drawingml/2006/main">
            <a:r>
              <a:t>      "unit": "%",</a:t>
            </a:r>
          </a:p>
          <a:p xmlns:a="http://schemas.openxmlformats.org/drawingml/2006/main">
            <a:r>
              <a:t>      "values": [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"period": "2025初期",</a:t>
            </a:r>
          </a:p>
          <a:p xmlns:a="http://schemas.openxmlformats.org/drawingml/2006/main">
            <a:r>
              <a:t>          "group": "原始样本",</a:t>
            </a:r>
          </a:p>
          <a:p xmlns:a="http://schemas.openxmlformats.org/drawingml/2006/main">
            <a:r>
              <a:t>          "estimate": 19,</a:t>
            </a:r>
          </a:p>
          <a:p xmlns:a="http://schemas.openxmlformats.org/drawingml/2006/main">
            <a:r>
              <a:t>          "low": 2,</a:t>
            </a:r>
          </a:p>
          <a:p xmlns:a="http://schemas.openxmlformats.org/drawingml/2006/main">
            <a:r>
              <a:t>          "high": 39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"period": "2025后期",</a:t>
            </a:r>
          </a:p>
          <a:p xmlns:a="http://schemas.openxmlformats.org/drawingml/2006/main">
            <a:r>
              <a:t>          "group": "原样本回访",</a:t>
            </a:r>
          </a:p>
          <a:p xmlns:a="http://schemas.openxmlformats.org/drawingml/2006/main">
            <a:r>
              <a:t>          "estimate": -18,</a:t>
            </a:r>
          </a:p>
          <a:p xmlns:a="http://schemas.openxmlformats.org/drawingml/2006/main">
            <a:r>
              <a:t>          "low": -38,</a:t>
            </a:r>
          </a:p>
          <a:p xmlns:a="http://schemas.openxmlformats.org/drawingml/2006/main">
            <a:r>
              <a:t>          "high": 9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"period": "2025后期",</a:t>
            </a:r>
          </a:p>
          <a:p xmlns:a="http://schemas.openxmlformats.org/drawingml/2006/main">
            <a:r>
              <a:t>          "group": "新招募样本",</a:t>
            </a:r>
          </a:p>
          <a:p xmlns:a="http://schemas.openxmlformats.org/drawingml/2006/main">
            <a:r>
              <a:t>          "estimate": -4,</a:t>
            </a:r>
          </a:p>
          <a:p xmlns:a="http://schemas.openxmlformats.org/drawingml/2006/main">
            <a:r>
              <a:t>          "low": -15,</a:t>
            </a:r>
          </a:p>
          <a:p xmlns:a="http://schemas.openxmlformats.org/drawingml/2006/main">
            <a:r>
              <a:t>          "high": 9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"caution": "负值=时间减少；后期两组区间跨0并有选择偏差，不能断言所有开发者提速"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"F7",</a:t>
            </a:r>
          </a:p>
          <a:p xmlns:a="http://schemas.openxmlformats.org/drawingml/2006/main">
            <a:r>
              <a:t>      "source": "S4",</a:t>
            </a:r>
          </a:p>
          <a:p xmlns:a="http://schemas.openxmlformats.org/drawingml/2006/main">
            <a:r>
              <a:t>      "metric": "全球数据中心年用电",</a:t>
            </a:r>
          </a:p>
          <a:p xmlns:a="http://schemas.openxmlformats.org/drawingml/2006/main">
            <a:r>
              <a:t>      "unit": "TWh",</a:t>
            </a:r>
          </a:p>
          <a:p xmlns:a="http://schemas.openxmlformats.org/drawingml/2006/main">
            <a:r>
              <a:t>      "values": {</a:t>
            </a:r>
          </a:p>
          <a:p xmlns:a="http://schemas.openxmlformats.org/drawingml/2006/main">
            <a:r>
              <a:t>        "2025_estimate": 485,</a:t>
            </a:r>
          </a:p>
          <a:p xmlns:a="http://schemas.openxmlformats.org/drawingml/2006/main">
            <a:r>
              <a:t>        "2030_central_projection": 950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"derivation": "950/485=1.9588，约1.96倍；图从0起，预测用虚线轮廓"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"F8",</a:t>
            </a:r>
          </a:p>
          <a:p xmlns:a="http://schemas.openxmlformats.org/drawingml/2006/main">
            <a:r>
              <a:t>      "source": "S4",</a:t>
            </a:r>
          </a:p>
          <a:p xmlns:a="http://schemas.openxmlformats.org/drawingml/2006/main">
            <a:r>
              <a:t>      "metric": "2025年用电量同比增长",</a:t>
            </a:r>
          </a:p>
          <a:p xmlns:a="http://schemas.openxmlformats.org/drawingml/2006/main">
            <a:r>
              <a:t>      "unit": "%",</a:t>
            </a:r>
          </a:p>
          <a:p xmlns:a="http://schemas.openxmlformats.org/drawingml/2006/main">
            <a:r>
              <a:t>      "values": {</a:t>
            </a:r>
          </a:p>
          <a:p xmlns:a="http://schemas.openxmlformats.org/drawingml/2006/main">
            <a:r>
              <a:t>        "all_data_centres": 17,</a:t>
            </a:r>
          </a:p>
          <a:p xmlns:a="http://schemas.openxmlformats.org/drawingml/2006/main">
            <a:r>
              <a:t>        "AI_focused_data_centres": 50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"caution": "AI专用数据中心是不同统计范围，增长率可对照，不能相加"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85b40db6842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e0ba04870d4135" /><Relationship Type="http://schemas.openxmlformats.org/officeDocument/2006/relationships/slideLayout" Target="/ppt/slideLayouts/slideLayout1.xml" Id="Rbd2a61f9680848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2a61f9680848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2fa42201f481a" /><Relationship Type="http://schemas.openxmlformats.org/officeDocument/2006/relationships/image" Target="/ppt/media/image.png" Id="R2babb199966642e5" /><Relationship Type="http://schemas.openxmlformats.org/officeDocument/2006/relationships/image" Target="/ppt/media/image2.png" Id="Re8f30497048d408e" /><Relationship Type="http://schemas.openxmlformats.org/officeDocument/2006/relationships/image" Target="/ppt/media/image3.png" Id="R2666335238ab44c2" /><Relationship Type="http://schemas.openxmlformats.org/officeDocument/2006/relationships/image" Target="/ppt/media/image4.png" Id="Rbb2cdf49196c461d" /><Relationship Type="http://schemas.openxmlformats.org/officeDocument/2006/relationships/notesSlide" Target="/ppt/notesSlides/notesSlide1.xml" Id="Rfbd86aab488d4b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bb199966642e5"/>
          <a:stretch xmlns:a="http://schemas.openxmlformats.org/drawingml/2006/main"/>
        </p:blipFill>
        <p:spPr>
          <a:xfrm xmlns:a="http://schemas.openxmlformats.org/drawingml/2006/main">
            <a:off x="0" y="1380"/>
            <a:ext cx="8481391" cy="5654261"/>
          </a:xfrm>
          <a:prstGeom xmlns:a="http://schemas.openxmlformats.org/drawingml/2006/main" prst="rect">
            <a:avLst/>
          </a:prstGeom>
        </p:spPr>
      </p:pic>
      <p:sp>
        <p:nvSpPr>
          <p:cNvPr id="2" name="text-001">
            <a:extLst xmlns:a="http://schemas.openxmlformats.org/drawingml/2006/main">
              <a:ext uri="{FF2B5EF4-FFF2-40B4-BE49-F238E27FC236}">
                <a16:creationId xmlns:a16="http://schemas.microsoft.com/office/drawing/2014/main" id="{CA9A6EA2-7534-438B-810F-58C3C8CA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60956"/>
            <a:ext cx="1929848" cy="23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1">
                <a:solidFill>
                  <a:srgbClr val="1F5260"/>
                </a:solidFill>
                <a:latin typeface="Noto Sans SC"/>
                <a:ea typeface="Noto Sans SC"/>
                <a:cs typeface="Noto Sans SC"/>
              </a:defRPr>
            </a:pPr>
            <a:r>
              <a:rPr sz="1370" b="1">
                <a:solidFill>
                  <a:srgbClr val="1F5260"/>
                </a:solidFill>
                <a:latin typeface="Noto Sans SC"/>
                <a:ea typeface="Noto Sans SC"/>
                <a:cs typeface="Noto Sans SC"/>
              </a:rPr>
              <a:t>数据新闻  /  2026年观察</a:t>
            </a:r>
          </a:p>
        </p:txBody>
      </p:sp>
      <p:sp>
        <p:nvSpPr>
          <p:cNvPr id="3" name="cover-title-1">
            <a:extLst xmlns:a="http://schemas.openxmlformats.org/drawingml/2006/main">
              <a:ext uri="{FF2B5EF4-FFF2-40B4-BE49-F238E27FC236}">
                <a16:creationId xmlns:a16="http://schemas.microsoft.com/office/drawing/2014/main" id="{DA0262C3-0147-47DC-BD3C-A082FAB5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815671"/>
            <a:ext cx="3959087" cy="849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7" b="1">
                <a:solidFill>
                  <a:srgbClr val="171C1C"/>
                </a:solidFill>
                <a:latin typeface="Noto Serif SC"/>
                <a:ea typeface="Noto Serif SC"/>
                <a:cs typeface="Noto Serif SC"/>
              </a:defRPr>
            </a:pPr>
            <a:r>
              <a:rPr sz="4957" b="1">
                <a:solidFill>
                  <a:srgbClr val="171C1C"/>
                </a:solidFill>
                <a:latin typeface="Noto Serif SC"/>
                <a:ea typeface="Noto Serif SC"/>
                <a:cs typeface="Noto Serif SC"/>
              </a:rPr>
              <a:t>AI进了工作流</a:t>
            </a:r>
          </a:p>
        </p:txBody>
      </p:sp>
      <p:sp>
        <p:nvSpPr>
          <p:cNvPr id="4" name="cover-title-2">
            <a:extLst xmlns:a="http://schemas.openxmlformats.org/drawingml/2006/main">
              <a:ext uri="{FF2B5EF4-FFF2-40B4-BE49-F238E27FC236}">
                <a16:creationId xmlns:a16="http://schemas.microsoft.com/office/drawing/2014/main" id="{67FB8428-447F-4EA2-A223-5AE59AA9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652215"/>
            <a:ext cx="3892826" cy="849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7" b="1">
                <a:solidFill>
                  <a:srgbClr val="171C1C"/>
                </a:solidFill>
                <a:latin typeface="Noto Serif SC"/>
                <a:ea typeface="Noto Serif SC"/>
                <a:cs typeface="Noto Serif SC"/>
              </a:defRPr>
            </a:pPr>
            <a:r>
              <a:rPr sz="4957" b="1">
                <a:solidFill>
                  <a:srgbClr val="171C1C"/>
                </a:solidFill>
                <a:latin typeface="Noto Serif SC"/>
                <a:ea typeface="Noto Serif SC"/>
                <a:cs typeface="Noto Serif SC"/>
              </a:rPr>
              <a:t>收益还在路上</a:t>
            </a:r>
          </a:p>
        </p:txBody>
      </p:sp>
      <p:sp>
        <p:nvSpPr>
          <p:cNvPr id="5" name="rect-004">
            <a:extLst xmlns:a="http://schemas.openxmlformats.org/drawingml/2006/main">
              <a:ext uri="{FF2B5EF4-FFF2-40B4-BE49-F238E27FC236}">
                <a16:creationId xmlns:a16="http://schemas.microsoft.com/office/drawing/2014/main" id="{A62E2D40-471C-4535-BC43-64DFDBFF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3696"/>
            <a:ext cx="8481391" cy="1615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noFill/>
          </a:ln>
        </p:spPr>
      </p:sp>
      <p:sp>
        <p:nvSpPr>
          <p:cNvPr id="6" name="text-005">
            <a:extLst xmlns:a="http://schemas.openxmlformats.org/drawingml/2006/main">
              <a:ext uri="{FF2B5EF4-FFF2-40B4-BE49-F238E27FC236}">
                <a16:creationId xmlns:a16="http://schemas.microsoft.com/office/drawing/2014/main" id="{3A24312C-EF28-4509-86A2-9966FC71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5478946"/>
            <a:ext cx="3843130" cy="27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0" b="0">
                <a:solidFill>
                  <a:srgbClr val="1F5260"/>
                </a:solidFill>
                <a:latin typeface="Noto Sans SC"/>
                <a:ea typeface="Noto Sans SC"/>
                <a:cs typeface="Noto Sans SC"/>
              </a:defRPr>
            </a:pPr>
            <a:r>
              <a:rPr sz="1630" b="0">
                <a:solidFill>
                  <a:srgbClr val="1F5260"/>
                </a:solidFill>
                <a:latin typeface="Noto Sans SC"/>
                <a:ea typeface="Noto Sans SC"/>
                <a:cs typeface="Noto Sans SC"/>
              </a:rPr>
              <a:t>从会回答，到能执行，再到可核算的回报</a:t>
            </a:r>
          </a:p>
        </p:txBody>
      </p:sp>
      <p:sp>
        <p:nvSpPr>
          <p:cNvPr id="7" name="text-006">
            <a:extLst xmlns:a="http://schemas.openxmlformats.org/drawingml/2006/main">
              <a:ext uri="{FF2B5EF4-FFF2-40B4-BE49-F238E27FC236}">
                <a16:creationId xmlns:a16="http://schemas.microsoft.com/office/drawing/2014/main" id="{EB273D5A-CBA5-482F-8BB4-C5873040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5926207"/>
            <a:ext cx="7371522" cy="27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63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从打开聊天框，到把任务交给智能体，AI正在嵌入日常工作。部署规模、执行能</a:t>
            </a:r>
          </a:p>
        </p:txBody>
      </p:sp>
      <p:sp>
        <p:nvSpPr>
          <p:cNvPr id="8" name="text-007">
            <a:extLst xmlns:a="http://schemas.openxmlformats.org/drawingml/2006/main">
              <a:ext uri="{FF2B5EF4-FFF2-40B4-BE49-F238E27FC236}">
                <a16:creationId xmlns:a16="http://schemas.microsoft.com/office/drawing/2014/main" id="{43517937-C06D-4880-9D58-10104E8E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6240946"/>
            <a:ext cx="7371522" cy="27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63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力、生产力与资源消耗，正成为观察这场变化的四条线索。</a:t>
            </a:r>
          </a:p>
        </p:txBody>
      </p:sp>
      <p:sp>
        <p:nvSpPr>
          <p:cNvPr id="9" name="text-008">
            <a:extLst xmlns:a="http://schemas.openxmlformats.org/drawingml/2006/main">
              <a:ext uri="{FF2B5EF4-FFF2-40B4-BE49-F238E27FC236}">
                <a16:creationId xmlns:a16="http://schemas.microsoft.com/office/drawing/2014/main" id="{0920BE19-5A2E-4D09-9886-3EFC6293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6722497"/>
            <a:ext cx="3669196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资料核验截至 2026.10.06  ·  8幅数据图表  ·  全球视角</a:t>
            </a:r>
          </a:p>
        </p:txBody>
      </p:sp>
      <p:sp>
        <p:nvSpPr>
          <p:cNvPr id="10" name="line-009">
            <a:extLst xmlns:a="http://schemas.openxmlformats.org/drawingml/2006/main">
              <a:ext uri="{FF2B5EF4-FFF2-40B4-BE49-F238E27FC236}">
                <a16:creationId xmlns:a16="http://schemas.microsoft.com/office/drawing/2014/main" id="{4A7206F1-BC57-44A0-975E-3E45BDFA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7288696"/>
            <a:ext cx="7321826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1C"/>
          </a:solidFill>
          <a:ln xmlns:a="http://schemas.openxmlformats.org/drawingml/2006/main" w="0">
            <a:noFill/>
          </a:ln>
        </p:spPr>
      </p:sp>
      <p:sp>
        <p:nvSpPr>
          <p:cNvPr id="11" name="text-010">
            <a:extLst xmlns:a="http://schemas.openxmlformats.org/drawingml/2006/main">
              <a:ext uri="{FF2B5EF4-FFF2-40B4-BE49-F238E27FC236}">
                <a16:creationId xmlns:a16="http://schemas.microsoft.com/office/drawing/2014/main" id="{82C0DD1D-20A6-4163-8060-01DEB0C7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7472238"/>
            <a:ext cx="480391" cy="469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9" b="1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2739" b="1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2" name="text-011">
            <a:extLst xmlns:a="http://schemas.openxmlformats.org/drawingml/2006/main">
              <a:ext uri="{FF2B5EF4-FFF2-40B4-BE49-F238E27FC236}">
                <a16:creationId xmlns:a16="http://schemas.microsoft.com/office/drawing/2014/main" id="{E220BB7A-C342-498A-93CA-197A7A70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696" y="7480521"/>
            <a:ext cx="3246783" cy="469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9" b="1">
                <a:solidFill>
                  <a:srgbClr val="171C1C"/>
                </a:solidFill>
                <a:latin typeface="Noto Serif SC"/>
                <a:ea typeface="Noto Serif SC"/>
                <a:cs typeface="Noto Serif SC"/>
              </a:defRPr>
            </a:pPr>
            <a:r>
              <a:rPr sz="2739" b="1">
                <a:solidFill>
                  <a:srgbClr val="171C1C"/>
                </a:solidFill>
                <a:latin typeface="Noto Serif SC"/>
                <a:ea typeface="Noto Serif SC"/>
                <a:cs typeface="Noto Serif SC"/>
              </a:rPr>
              <a:t>从试用走向组织部署</a:t>
            </a:r>
          </a:p>
        </p:txBody>
      </p:sp>
      <p:sp>
        <p:nvSpPr>
          <p:cNvPr id="13" name="text-012">
            <a:extLst xmlns:a="http://schemas.openxmlformats.org/drawingml/2006/main">
              <a:ext uri="{FF2B5EF4-FFF2-40B4-BE49-F238E27FC236}">
                <a16:creationId xmlns:a16="http://schemas.microsoft.com/office/drawing/2014/main" id="{0D90C153-6B17-45B9-B67B-CCF6A9AE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696" y="7998018"/>
            <a:ext cx="2277717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问卷  /  McKinsey全球调查，2026</a:t>
            </a:r>
          </a:p>
        </p:txBody>
      </p:sp>
      <p:sp>
        <p:nvSpPr>
          <p:cNvPr id="14" name="text-013">
            <a:extLst xmlns:a="http://schemas.openxmlformats.org/drawingml/2006/main">
              <a:ext uri="{FF2B5EF4-FFF2-40B4-BE49-F238E27FC236}">
                <a16:creationId xmlns:a16="http://schemas.microsoft.com/office/drawing/2014/main" id="{41F50C38-C6F2-4FBF-9F48-281864CC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8319880"/>
            <a:ext cx="7371522" cy="27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63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企业部署正在扩大，但进度并不一致。智能体的推进速度，在不同规模组织之间</a:t>
            </a:r>
          </a:p>
        </p:txBody>
      </p:sp>
      <p:sp>
        <p:nvSpPr>
          <p:cNvPr id="15" name="text-014">
            <a:extLst xmlns:a="http://schemas.openxmlformats.org/drawingml/2006/main">
              <a:ext uri="{FF2B5EF4-FFF2-40B4-BE49-F238E27FC236}">
                <a16:creationId xmlns:a16="http://schemas.microsoft.com/office/drawing/2014/main" id="{91C3776A-247F-4546-AAB7-801B4156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8634620"/>
            <a:ext cx="7371522" cy="27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63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出现分化。</a:t>
            </a:r>
          </a:p>
        </p:txBody>
      </p:sp>
      <p:sp>
        <p:nvSpPr>
          <p:cNvPr id="16" name="text-015">
            <a:extLst xmlns:a="http://schemas.openxmlformats.org/drawingml/2006/main">
              <a:ext uri="{FF2B5EF4-FFF2-40B4-BE49-F238E27FC236}">
                <a16:creationId xmlns:a16="http://schemas.microsoft.com/office/drawing/2014/main" id="{24F4C729-364F-49E9-8A15-1DDD2EC0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9356366"/>
            <a:ext cx="339587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1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1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图1</a:t>
            </a:r>
          </a:p>
        </p:txBody>
      </p:sp>
      <p:sp>
        <p:nvSpPr>
          <p:cNvPr id="17" name="text-016">
            <a:extLst xmlns:a="http://schemas.openxmlformats.org/drawingml/2006/main">
              <a:ext uri="{FF2B5EF4-FFF2-40B4-BE49-F238E27FC236}">
                <a16:creationId xmlns:a16="http://schemas.microsoft.com/office/drawing/2014/main" id="{15F5B781-D0CE-48BB-9C3D-8D001F4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3" y="9288780"/>
            <a:ext cx="2882348" cy="29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96" b="1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696" b="1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全企业范围扩大AI部署的占比</a:t>
            </a:r>
          </a:p>
        </p:txBody>
      </p:sp>
      <p:sp>
        <p:nvSpPr>
          <p:cNvPr id="18" name="text-017">
            <a:extLst xmlns:a="http://schemas.openxmlformats.org/drawingml/2006/main">
              <a:ext uri="{FF2B5EF4-FFF2-40B4-BE49-F238E27FC236}">
                <a16:creationId xmlns:a16="http://schemas.microsoft.com/office/drawing/2014/main" id="{CF579433-A6B3-432F-AA1B-DAA8E96F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9662823"/>
            <a:ext cx="1449457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占受访者比例（%）</a:t>
            </a:r>
          </a:p>
        </p:txBody>
      </p:sp>
      <p:sp>
        <p:nvSpPr>
          <p:cNvPr id="19" name="text-018">
            <a:extLst xmlns:a="http://schemas.openxmlformats.org/drawingml/2006/main">
              <a:ext uri="{FF2B5EF4-FFF2-40B4-BE49-F238E27FC236}">
                <a16:creationId xmlns:a16="http://schemas.microsoft.com/office/drawing/2014/main" id="{CA46455E-5423-4622-B6FE-4E45DEEC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0208481"/>
            <a:ext cx="546652" cy="26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2025</a:t>
            </a:r>
          </a:p>
        </p:txBody>
      </p:sp>
      <p:sp>
        <p:nvSpPr>
          <p:cNvPr id="20" name="F1-2025">
            <a:extLst xmlns:a="http://schemas.openxmlformats.org/drawingml/2006/main">
              <a:ext uri="{FF2B5EF4-FFF2-40B4-BE49-F238E27FC236}">
                <a16:creationId xmlns:a16="http://schemas.microsoft.com/office/drawing/2014/main" id="{2AE4732B-6E6E-4BB9-967C-E30B3384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348" y="10146196"/>
            <a:ext cx="1888435" cy="347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21" name="text-020">
            <a:extLst xmlns:a="http://schemas.openxmlformats.org/drawingml/2006/main">
              <a:ext uri="{FF2B5EF4-FFF2-40B4-BE49-F238E27FC236}">
                <a16:creationId xmlns:a16="http://schemas.microsoft.com/office/drawing/2014/main" id="{052FCF7B-AF6B-4235-B4F2-7B029F24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022" y="10166074"/>
            <a:ext cx="604630" cy="335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7" b="1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957" b="1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38%</a:t>
            </a:r>
          </a:p>
        </p:txBody>
      </p:sp>
      <p:sp>
        <p:nvSpPr>
          <p:cNvPr id="22" name="text-021">
            <a:extLst xmlns:a="http://schemas.openxmlformats.org/drawingml/2006/main">
              <a:ext uri="{FF2B5EF4-FFF2-40B4-BE49-F238E27FC236}">
                <a16:creationId xmlns:a16="http://schemas.microsoft.com/office/drawing/2014/main" id="{9F141BF2-02CA-4AC6-AA93-ACD058DB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0829677"/>
            <a:ext cx="546652" cy="26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2026</a:t>
            </a:r>
          </a:p>
        </p:txBody>
      </p:sp>
      <p:sp>
        <p:nvSpPr>
          <p:cNvPr id="23" name="F1-2026">
            <a:extLst xmlns:a="http://schemas.openxmlformats.org/drawingml/2006/main">
              <a:ext uri="{FF2B5EF4-FFF2-40B4-BE49-F238E27FC236}">
                <a16:creationId xmlns:a16="http://schemas.microsoft.com/office/drawing/2014/main" id="{5DADFC80-8FA8-4F51-85F7-807ADA56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348" y="10767391"/>
            <a:ext cx="2186609" cy="347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24" name="text-023">
            <a:extLst xmlns:a="http://schemas.openxmlformats.org/drawingml/2006/main">
              <a:ext uri="{FF2B5EF4-FFF2-40B4-BE49-F238E27FC236}">
                <a16:creationId xmlns:a16="http://schemas.microsoft.com/office/drawing/2014/main" id="{64B70B39-5F82-4A70-AE24-DCAD489E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196" y="10787270"/>
            <a:ext cx="604630" cy="335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7" b="1">
                <a:solidFill>
                  <a:srgbClr val="1F5260"/>
                </a:solidFill>
                <a:latin typeface="Noto Sans SC"/>
                <a:ea typeface="Noto Sans SC"/>
                <a:cs typeface="Noto Sans SC"/>
              </a:defRPr>
            </a:pPr>
            <a:r>
              <a:rPr sz="1957" b="1">
                <a:solidFill>
                  <a:srgbClr val="1F5260"/>
                </a:solidFill>
                <a:latin typeface="Noto Sans SC"/>
                <a:ea typeface="Noto Sans SC"/>
                <a:cs typeface="Noto Sans SC"/>
              </a:rPr>
              <a:t>44%</a:t>
            </a:r>
          </a:p>
        </p:txBody>
      </p:sp>
      <p:sp>
        <p:nvSpPr>
          <p:cNvPr id="25" name="line-024">
            <a:extLst xmlns:a="http://schemas.openxmlformats.org/drawingml/2006/main">
              <a:ext uri="{FF2B5EF4-FFF2-40B4-BE49-F238E27FC236}">
                <a16:creationId xmlns:a16="http://schemas.microsoft.com/office/drawing/2014/main" id="{EF2E6182-A21A-42E7-9A1B-76EF6B97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348" y="11363739"/>
            <a:ext cx="4969565" cy="82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26" name="line-025">
            <a:extLst xmlns:a="http://schemas.openxmlformats.org/drawingml/2006/main">
              <a:ext uri="{FF2B5EF4-FFF2-40B4-BE49-F238E27FC236}">
                <a16:creationId xmlns:a16="http://schemas.microsoft.com/office/drawing/2014/main" id="{F78D4E25-8B2C-455D-9FFB-A7E5EFC6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348" y="11363739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27" name="text-026">
            <a:extLst xmlns:a="http://schemas.openxmlformats.org/drawingml/2006/main">
              <a:ext uri="{FF2B5EF4-FFF2-40B4-BE49-F238E27FC236}">
                <a16:creationId xmlns:a16="http://schemas.microsoft.com/office/drawing/2014/main" id="{EA50E2EF-16A3-4AB4-89CF-A365195D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522" y="11468597"/>
            <a:ext cx="190500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0</a:t>
            </a:r>
          </a:p>
        </p:txBody>
      </p:sp>
      <p:sp>
        <p:nvSpPr>
          <p:cNvPr id="28" name="line-027">
            <a:extLst xmlns:a="http://schemas.openxmlformats.org/drawingml/2006/main">
              <a:ext uri="{FF2B5EF4-FFF2-40B4-BE49-F238E27FC236}">
                <a16:creationId xmlns:a16="http://schemas.microsoft.com/office/drawing/2014/main" id="{B56D4AFB-B0D7-427E-B80C-6D29C73E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739" y="11363739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29" name="text-028">
            <a:extLst xmlns:a="http://schemas.openxmlformats.org/drawingml/2006/main">
              <a:ext uri="{FF2B5EF4-FFF2-40B4-BE49-F238E27FC236}">
                <a16:creationId xmlns:a16="http://schemas.microsoft.com/office/drawing/2014/main" id="{B8C1A3C8-960D-473E-9807-01E57861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913" y="11468597"/>
            <a:ext cx="265043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25</a:t>
            </a:r>
          </a:p>
        </p:txBody>
      </p:sp>
      <p:sp>
        <p:nvSpPr>
          <p:cNvPr id="30" name="line-029">
            <a:extLst xmlns:a="http://schemas.openxmlformats.org/drawingml/2006/main">
              <a:ext uri="{FF2B5EF4-FFF2-40B4-BE49-F238E27FC236}">
                <a16:creationId xmlns:a16="http://schemas.microsoft.com/office/drawing/2014/main" id="{44B73886-A1BE-47B8-8B75-DAE4BD33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130" y="11363739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31" name="text-030">
            <a:extLst xmlns:a="http://schemas.openxmlformats.org/drawingml/2006/main">
              <a:ext uri="{FF2B5EF4-FFF2-40B4-BE49-F238E27FC236}">
                <a16:creationId xmlns:a16="http://schemas.microsoft.com/office/drawing/2014/main" id="{AEB6A340-B29A-486C-A09A-E8BE3890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304" y="11468597"/>
            <a:ext cx="265043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50</a:t>
            </a:r>
          </a:p>
        </p:txBody>
      </p:sp>
      <p:sp>
        <p:nvSpPr>
          <p:cNvPr id="32" name="line-031">
            <a:extLst xmlns:a="http://schemas.openxmlformats.org/drawingml/2006/main">
              <a:ext uri="{FF2B5EF4-FFF2-40B4-BE49-F238E27FC236}">
                <a16:creationId xmlns:a16="http://schemas.microsoft.com/office/drawing/2014/main" id="{A92EB40D-7270-4EFA-8CD9-753D8BE8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6522" y="11363739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33" name="text-032">
            <a:extLst xmlns:a="http://schemas.openxmlformats.org/drawingml/2006/main">
              <a:ext uri="{FF2B5EF4-FFF2-40B4-BE49-F238E27FC236}">
                <a16:creationId xmlns:a16="http://schemas.microsoft.com/office/drawing/2014/main" id="{C2DD6F05-C429-4FCD-A212-01831A66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696" y="11468597"/>
            <a:ext cx="265043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75</a:t>
            </a:r>
          </a:p>
        </p:txBody>
      </p:sp>
      <p:sp>
        <p:nvSpPr>
          <p:cNvPr id="34" name="line-033">
            <a:extLst xmlns:a="http://schemas.openxmlformats.org/drawingml/2006/main">
              <a:ext uri="{FF2B5EF4-FFF2-40B4-BE49-F238E27FC236}">
                <a16:creationId xmlns:a16="http://schemas.microsoft.com/office/drawing/2014/main" id="{75FF2D55-9F45-4CDA-9DF7-D89831A5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913" y="11363739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35" name="text-034">
            <a:extLst xmlns:a="http://schemas.openxmlformats.org/drawingml/2006/main">
              <a:ext uri="{FF2B5EF4-FFF2-40B4-BE49-F238E27FC236}">
                <a16:creationId xmlns:a16="http://schemas.microsoft.com/office/drawing/2014/main" id="{6F8D0687-C900-412D-8633-499BCCAC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087" y="11468597"/>
            <a:ext cx="339587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100</a:t>
            </a:r>
          </a:p>
        </p:txBody>
      </p:sp>
      <p:sp>
        <p:nvSpPr>
          <p:cNvPr id="36" name="text-035">
            <a:extLst xmlns:a="http://schemas.openxmlformats.org/drawingml/2006/main">
              <a:ext uri="{FF2B5EF4-FFF2-40B4-BE49-F238E27FC236}">
                <a16:creationId xmlns:a16="http://schemas.microsoft.com/office/drawing/2014/main" id="{BFA312C1-5819-476B-8698-0D9BF821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174" y="9545375"/>
            <a:ext cx="1250674" cy="301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1" b="1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1761" b="1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+6个百分点</a:t>
            </a:r>
          </a:p>
        </p:txBody>
      </p:sp>
      <p:sp>
        <p:nvSpPr>
          <p:cNvPr id="37" name="text-036">
            <a:extLst xmlns:a="http://schemas.openxmlformats.org/drawingml/2006/main">
              <a:ext uri="{FF2B5EF4-FFF2-40B4-BE49-F238E27FC236}">
                <a16:creationId xmlns:a16="http://schemas.microsoft.com/office/drawing/2014/main" id="{E00EBA58-2D09-4D24-B8D6-AA9B6B16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1774888"/>
            <a:ext cx="7371522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S1  ·  两年的口径均采用2026报告所给；“扩大部署”不等于所有企业全面使用。</a:t>
            </a:r>
          </a:p>
        </p:txBody>
      </p:sp>
      <p:sp>
        <p:nvSpPr>
          <p:cNvPr id="38" name="text-037">
            <a:extLst xmlns:a="http://schemas.openxmlformats.org/drawingml/2006/main">
              <a:ext uri="{FF2B5EF4-FFF2-40B4-BE49-F238E27FC236}">
                <a16:creationId xmlns:a16="http://schemas.microsoft.com/office/drawing/2014/main" id="{22252ABD-074E-4DDB-85E1-BA560EE1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2354670"/>
            <a:ext cx="339587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1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1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图2</a:t>
            </a:r>
          </a:p>
        </p:txBody>
      </p:sp>
      <p:sp>
        <p:nvSpPr>
          <p:cNvPr id="39" name="text-038">
            <a:extLst xmlns:a="http://schemas.openxmlformats.org/drawingml/2006/main">
              <a:ext uri="{FF2B5EF4-FFF2-40B4-BE49-F238E27FC236}">
                <a16:creationId xmlns:a16="http://schemas.microsoft.com/office/drawing/2014/main" id="{BA157BB7-2913-4E2B-8A7F-C2BF620A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3" y="12287084"/>
            <a:ext cx="2700130" cy="29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96" b="1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696" b="1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大型组织的智能体部署加速</a:t>
            </a:r>
          </a:p>
        </p:txBody>
      </p:sp>
      <p:sp>
        <p:nvSpPr>
          <p:cNvPr id="40" name="text-039">
            <a:extLst xmlns:a="http://schemas.openxmlformats.org/drawingml/2006/main">
              <a:ext uri="{FF2B5EF4-FFF2-40B4-BE49-F238E27FC236}">
                <a16:creationId xmlns:a16="http://schemas.microsoft.com/office/drawing/2014/main" id="{93681561-EF4D-499D-8B70-4DE40499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2661127"/>
            <a:ext cx="2617304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扩大AI智能体部署的受访者比例（%）</a:t>
            </a:r>
          </a:p>
        </p:txBody>
      </p:sp>
      <p:sp>
        <p:nvSpPr>
          <p:cNvPr id="41" name="text-040">
            <a:extLst xmlns:a="http://schemas.openxmlformats.org/drawingml/2006/main">
              <a:ext uri="{FF2B5EF4-FFF2-40B4-BE49-F238E27FC236}">
                <a16:creationId xmlns:a16="http://schemas.microsoft.com/office/drawing/2014/main" id="{9F32535A-B5DA-4AB7-8B80-BC7CA8ED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435" y="13050244"/>
            <a:ext cx="447261" cy="212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23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2025</a:t>
            </a:r>
          </a:p>
        </p:txBody>
      </p:sp>
      <p:sp>
        <p:nvSpPr>
          <p:cNvPr id="42" name="ellipse-041">
            <a:extLst xmlns:a="http://schemas.openxmlformats.org/drawingml/2006/main">
              <a:ext uri="{FF2B5EF4-FFF2-40B4-BE49-F238E27FC236}">
                <a16:creationId xmlns:a16="http://schemas.microsoft.com/office/drawing/2014/main" id="{80B5042B-F4C2-4C97-A025-916010B6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957" y="13086522"/>
            <a:ext cx="132522" cy="1325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43" name="text-042">
            <a:extLst xmlns:a="http://schemas.openxmlformats.org/drawingml/2006/main">
              <a:ext uri="{FF2B5EF4-FFF2-40B4-BE49-F238E27FC236}">
                <a16:creationId xmlns:a16="http://schemas.microsoft.com/office/drawing/2014/main" id="{FAB6757E-DB4C-4DB3-8E13-8A7C0B69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26" y="13050244"/>
            <a:ext cx="447261" cy="212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9" b="0">
                <a:solidFill>
                  <a:srgbClr val="1F5260"/>
                </a:solidFill>
                <a:latin typeface="Noto Sans SC"/>
                <a:ea typeface="Noto Sans SC"/>
                <a:cs typeface="Noto Sans SC"/>
              </a:defRPr>
            </a:pPr>
            <a:r>
              <a:rPr sz="1239" b="0">
                <a:solidFill>
                  <a:srgbClr val="1F5260"/>
                </a:solidFill>
                <a:latin typeface="Noto Sans SC"/>
                <a:ea typeface="Noto Sans SC"/>
                <a:cs typeface="Noto Sans SC"/>
              </a:rPr>
              <a:t>2026</a:t>
            </a:r>
          </a:p>
        </p:txBody>
      </p:sp>
      <p:sp>
        <p:nvSpPr>
          <p:cNvPr id="44" name="ellipse-043">
            <a:extLst xmlns:a="http://schemas.openxmlformats.org/drawingml/2006/main">
              <a:ext uri="{FF2B5EF4-FFF2-40B4-BE49-F238E27FC236}">
                <a16:creationId xmlns:a16="http://schemas.microsoft.com/office/drawing/2014/main" id="{954B86E2-2744-49C9-91E3-E1CF3BDD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348" y="13086522"/>
            <a:ext cx="132522" cy="1325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45" name="text-044">
            <a:extLst xmlns:a="http://schemas.openxmlformats.org/drawingml/2006/main">
              <a:ext uri="{FF2B5EF4-FFF2-40B4-BE49-F238E27FC236}">
                <a16:creationId xmlns:a16="http://schemas.microsoft.com/office/drawing/2014/main" id="{8B9A555B-7FE9-4A04-8004-CBAF7F84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3621081"/>
            <a:ext cx="87795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大型组织</a:t>
            </a:r>
          </a:p>
        </p:txBody>
      </p:sp>
      <p:sp>
        <p:nvSpPr>
          <p:cNvPr id="46" name="line-045">
            <a:extLst xmlns:a="http://schemas.openxmlformats.org/drawingml/2006/main">
              <a:ext uri="{FF2B5EF4-FFF2-40B4-BE49-F238E27FC236}">
                <a16:creationId xmlns:a16="http://schemas.microsoft.com/office/drawing/2014/main" id="{E6E190C0-AD4D-4568-90CF-2DA2C0D5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826" y="13749130"/>
            <a:ext cx="4638261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47" name="line-046">
            <a:extLst xmlns:a="http://schemas.openxmlformats.org/drawingml/2006/main">
              <a:ext uri="{FF2B5EF4-FFF2-40B4-BE49-F238E27FC236}">
                <a16:creationId xmlns:a16="http://schemas.microsoft.com/office/drawing/2014/main" id="{A50B835D-1CB6-436B-A546-CB55CDB0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157" y="13749130"/>
            <a:ext cx="602974" cy="41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48" name="F2-0-2025">
            <a:extLst xmlns:a="http://schemas.openxmlformats.org/drawingml/2006/main">
              <a:ext uri="{FF2B5EF4-FFF2-40B4-BE49-F238E27FC236}">
                <a16:creationId xmlns:a16="http://schemas.microsoft.com/office/drawing/2014/main" id="{9A6E8B75-4DFA-4085-B186-6BAC2B51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613" y="13674587"/>
            <a:ext cx="149087" cy="149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49" name="F2-0-2026">
            <a:extLst xmlns:a="http://schemas.openxmlformats.org/drawingml/2006/main">
              <a:ext uri="{FF2B5EF4-FFF2-40B4-BE49-F238E27FC236}">
                <a16:creationId xmlns:a16="http://schemas.microsoft.com/office/drawing/2014/main" id="{9AB2529C-C408-41C8-A0C9-367F91DD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435" y="13699435"/>
            <a:ext cx="99391" cy="993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50" name="text-049">
            <a:extLst xmlns:a="http://schemas.openxmlformats.org/drawingml/2006/main">
              <a:ext uri="{FF2B5EF4-FFF2-40B4-BE49-F238E27FC236}">
                <a16:creationId xmlns:a16="http://schemas.microsoft.com/office/drawing/2014/main" id="{E15630CB-5C85-44DA-999E-769A49B2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070" y="13397782"/>
            <a:ext cx="455543" cy="23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370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27%</a:t>
            </a:r>
          </a:p>
        </p:txBody>
      </p:sp>
      <p:sp>
        <p:nvSpPr>
          <p:cNvPr id="51" name="text-050">
            <a:extLst xmlns:a="http://schemas.openxmlformats.org/drawingml/2006/main">
              <a:ext uri="{FF2B5EF4-FFF2-40B4-BE49-F238E27FC236}">
                <a16:creationId xmlns:a16="http://schemas.microsoft.com/office/drawing/2014/main" id="{BF14549C-7C97-4AF0-89E7-A7D7F77B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043" y="13903021"/>
            <a:ext cx="455543" cy="23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0">
                <a:solidFill>
                  <a:srgbClr val="1F5260"/>
                </a:solidFill>
                <a:latin typeface="Noto Sans SC"/>
                <a:ea typeface="Noto Sans SC"/>
                <a:cs typeface="Noto Sans SC"/>
              </a:defRPr>
            </a:pPr>
            <a:r>
              <a:rPr sz="1370" b="0">
                <a:solidFill>
                  <a:srgbClr val="1F5260"/>
                </a:solidFill>
                <a:latin typeface="Noto Sans SC"/>
                <a:ea typeface="Noto Sans SC"/>
                <a:cs typeface="Noto Sans SC"/>
              </a:rPr>
              <a:t>40%</a:t>
            </a:r>
          </a:p>
        </p:txBody>
      </p:sp>
      <p:sp>
        <p:nvSpPr>
          <p:cNvPr id="52" name="text-051">
            <a:extLst xmlns:a="http://schemas.openxmlformats.org/drawingml/2006/main">
              <a:ext uri="{FF2B5EF4-FFF2-40B4-BE49-F238E27FC236}">
                <a16:creationId xmlns:a16="http://schemas.microsoft.com/office/drawing/2014/main" id="{E8ED9AF4-6521-44D0-A2C6-07E1A4A6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4490755"/>
            <a:ext cx="87795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较小组织</a:t>
            </a:r>
          </a:p>
        </p:txBody>
      </p:sp>
      <p:sp>
        <p:nvSpPr>
          <p:cNvPr id="53" name="line-052">
            <a:extLst xmlns:a="http://schemas.openxmlformats.org/drawingml/2006/main">
              <a:ext uri="{FF2B5EF4-FFF2-40B4-BE49-F238E27FC236}">
                <a16:creationId xmlns:a16="http://schemas.microsoft.com/office/drawing/2014/main" id="{ACB684CC-A233-450E-B7A8-0103531D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826" y="14618804"/>
            <a:ext cx="4638261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54" name="F2-1-2025">
            <a:extLst xmlns:a="http://schemas.openxmlformats.org/drawingml/2006/main">
              <a:ext uri="{FF2B5EF4-FFF2-40B4-BE49-F238E27FC236}">
                <a16:creationId xmlns:a16="http://schemas.microsoft.com/office/drawing/2014/main" id="{D0A7EBF0-B9C1-4833-9608-97020055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4544261"/>
            <a:ext cx="149087" cy="149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55" name="F2-1-2026">
            <a:extLst xmlns:a="http://schemas.openxmlformats.org/drawingml/2006/main">
              <a:ext uri="{FF2B5EF4-FFF2-40B4-BE49-F238E27FC236}">
                <a16:creationId xmlns:a16="http://schemas.microsoft.com/office/drawing/2014/main" id="{2C3BD390-44E8-43AA-B3F8-4250DBB7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548" y="14569109"/>
            <a:ext cx="99391" cy="993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56" name="text-055">
            <a:extLst xmlns:a="http://schemas.openxmlformats.org/drawingml/2006/main">
              <a:ext uri="{FF2B5EF4-FFF2-40B4-BE49-F238E27FC236}">
                <a16:creationId xmlns:a16="http://schemas.microsoft.com/office/drawing/2014/main" id="{64EFD6B8-EFF5-4E05-862F-A110E2C7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157" y="14267456"/>
            <a:ext cx="455543" cy="23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370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22%</a:t>
            </a:r>
          </a:p>
        </p:txBody>
      </p:sp>
      <p:sp>
        <p:nvSpPr>
          <p:cNvPr id="57" name="text-056">
            <a:extLst xmlns:a="http://schemas.openxmlformats.org/drawingml/2006/main">
              <a:ext uri="{FF2B5EF4-FFF2-40B4-BE49-F238E27FC236}">
                <a16:creationId xmlns:a16="http://schemas.microsoft.com/office/drawing/2014/main" id="{29DEA73B-785A-41C4-9F8B-88F7414C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157" y="14772695"/>
            <a:ext cx="455543" cy="23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0">
                <a:solidFill>
                  <a:srgbClr val="1F5260"/>
                </a:solidFill>
                <a:latin typeface="Noto Sans SC"/>
                <a:ea typeface="Noto Sans SC"/>
                <a:cs typeface="Noto Sans SC"/>
              </a:defRPr>
            </a:pPr>
            <a:r>
              <a:rPr sz="1370" b="0">
                <a:solidFill>
                  <a:srgbClr val="1F5260"/>
                </a:solidFill>
                <a:latin typeface="Noto Sans SC"/>
                <a:ea typeface="Noto Sans SC"/>
                <a:cs typeface="Noto Sans SC"/>
              </a:rPr>
              <a:t>22%</a:t>
            </a:r>
          </a:p>
        </p:txBody>
      </p:sp>
      <p:sp>
        <p:nvSpPr>
          <p:cNvPr id="58" name="text-057">
            <a:extLst xmlns:a="http://schemas.openxmlformats.org/drawingml/2006/main">
              <a:ext uri="{FF2B5EF4-FFF2-40B4-BE49-F238E27FC236}">
                <a16:creationId xmlns:a16="http://schemas.microsoft.com/office/drawing/2014/main" id="{588BE2F2-AFAC-43AC-96C0-44E9F983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5170757"/>
            <a:ext cx="7371522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S1  ·  大型组织年收入超过10亿美元；智能体可在至少一个业务职能中扩大部署。</a:t>
            </a:r>
          </a:p>
        </p:txBody>
      </p:sp>
      <p:sp>
        <p:nvSpPr>
          <p:cNvPr id="59" name="line-058">
            <a:extLst xmlns:a="http://schemas.openxmlformats.org/drawingml/2006/main">
              <a:ext uri="{FF2B5EF4-FFF2-40B4-BE49-F238E27FC236}">
                <a16:creationId xmlns:a16="http://schemas.microsoft.com/office/drawing/2014/main" id="{93FC27A8-51BB-416A-A0A5-1545D56C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5819783"/>
            <a:ext cx="7321826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1C"/>
          </a:solidFill>
          <a:ln xmlns:a="http://schemas.openxmlformats.org/drawingml/2006/main" w="0">
            <a:noFill/>
          </a:ln>
        </p:spPr>
      </p:sp>
      <p:sp>
        <p:nvSpPr>
          <p:cNvPr id="60" name="text-059">
            <a:extLst xmlns:a="http://schemas.openxmlformats.org/drawingml/2006/main">
              <a:ext uri="{FF2B5EF4-FFF2-40B4-BE49-F238E27FC236}">
                <a16:creationId xmlns:a16="http://schemas.microsoft.com/office/drawing/2014/main" id="{215EE630-4D67-4129-BDA4-F0BBBA2E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6003325"/>
            <a:ext cx="480391" cy="469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9" b="1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2739" b="1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61" name="text-060">
            <a:extLst xmlns:a="http://schemas.openxmlformats.org/drawingml/2006/main">
              <a:ext uri="{FF2B5EF4-FFF2-40B4-BE49-F238E27FC236}">
                <a16:creationId xmlns:a16="http://schemas.microsoft.com/office/drawing/2014/main" id="{CC305DDC-6360-4F6D-B444-9B6D2C4E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696" y="16011608"/>
            <a:ext cx="3246783" cy="469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9" b="1">
                <a:solidFill>
                  <a:srgbClr val="171C1C"/>
                </a:solidFill>
                <a:latin typeface="Noto Serif SC"/>
                <a:ea typeface="Noto Serif SC"/>
                <a:cs typeface="Noto Serif SC"/>
              </a:defRPr>
            </a:pPr>
            <a:r>
              <a:rPr sz="2739" b="1">
                <a:solidFill>
                  <a:srgbClr val="171C1C"/>
                </a:solidFill>
                <a:latin typeface="Noto Serif SC"/>
                <a:ea typeface="Noto Serif SC"/>
                <a:cs typeface="Noto Serif SC"/>
              </a:rPr>
              <a:t>从给答案到完成任务</a:t>
            </a:r>
          </a:p>
        </p:txBody>
      </p:sp>
      <p:sp>
        <p:nvSpPr>
          <p:cNvPr id="62" name="text-061">
            <a:extLst xmlns:a="http://schemas.openxmlformats.org/drawingml/2006/main">
              <a:ext uri="{FF2B5EF4-FFF2-40B4-BE49-F238E27FC236}">
                <a16:creationId xmlns:a16="http://schemas.microsoft.com/office/drawing/2014/main" id="{1D5F9F7F-E1CA-4738-808F-6EFECA2F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696" y="16529105"/>
            <a:ext cx="2840935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评测与问卷  /  能力进步开始改变工作方式</a:t>
            </a:r>
          </a:p>
        </p:txBody>
      </p:sp>
      <p:sp>
        <p:nvSpPr>
          <p:cNvPr id="63" name="text-062">
            <a:extLst xmlns:a="http://schemas.openxmlformats.org/drawingml/2006/main">
              <a:ext uri="{FF2B5EF4-FFF2-40B4-BE49-F238E27FC236}">
                <a16:creationId xmlns:a16="http://schemas.microsoft.com/office/drawing/2014/main" id="{A83FBD1E-C3D8-415E-A961-E62F6FC2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6859416"/>
            <a:ext cx="4845326" cy="26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执行任务，比生成一段回答更接近真实工作。桌面与</a:t>
            </a:r>
          </a:p>
        </p:txBody>
      </p:sp>
      <p:sp>
        <p:nvSpPr>
          <p:cNvPr id="64" name="text-063">
            <a:extLst xmlns:a="http://schemas.openxmlformats.org/drawingml/2006/main">
              <a:ext uri="{FF2B5EF4-FFF2-40B4-BE49-F238E27FC236}">
                <a16:creationId xmlns:a16="http://schemas.microsoft.com/office/drawing/2014/main" id="{D7822738-6E88-42FD-97D3-680FCE84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7157590"/>
            <a:ext cx="4845326" cy="26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网页评测中，领先AI已接近人类基线，却仍有明显的失</a:t>
            </a:r>
          </a:p>
        </p:txBody>
      </p:sp>
      <p:sp>
        <p:nvSpPr>
          <p:cNvPr id="65" name="text-064">
            <a:extLst xmlns:a="http://schemas.openxmlformats.org/drawingml/2006/main">
              <a:ext uri="{FF2B5EF4-FFF2-40B4-BE49-F238E27FC236}">
                <a16:creationId xmlns:a16="http://schemas.microsoft.com/office/drawing/2014/main" id="{49705DFA-CCB5-4CFC-B818-01FCE631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7455763"/>
            <a:ext cx="4845326" cy="26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败空间。</a:t>
            </a:r>
          </a:p>
        </p:txBody>
      </p:sp>
      <p:pic>
        <p:nvPicPr>
          <p:cNvPr id="4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30497048d408e"/>
          <a:stretch xmlns:a="http://schemas.openxmlformats.org/drawingml/2006/main"/>
        </p:blipFill>
        <p:spPr>
          <a:xfrm xmlns:a="http://schemas.openxmlformats.org/drawingml/2006/main">
            <a:off x="5590761" y="16606630"/>
            <a:ext cx="2310848" cy="1540565"/>
          </a:xfrm>
          <a:prstGeom xmlns:a="http://schemas.openxmlformats.org/drawingml/2006/main" prst="rect">
            <a:avLst/>
          </a:prstGeom>
        </p:spPr>
      </p:pic>
      <p:sp>
        <p:nvSpPr>
          <p:cNvPr id="67" name="text-066">
            <a:extLst xmlns:a="http://schemas.openxmlformats.org/drawingml/2006/main">
              <a:ext uri="{FF2B5EF4-FFF2-40B4-BE49-F238E27FC236}">
                <a16:creationId xmlns:a16="http://schemas.microsoft.com/office/drawing/2014/main" id="{5BF4978B-7AB3-43F8-A041-1190FC61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8483801"/>
            <a:ext cx="339587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1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1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图3</a:t>
            </a:r>
          </a:p>
        </p:txBody>
      </p:sp>
      <p:sp>
        <p:nvSpPr>
          <p:cNvPr id="68" name="text-067">
            <a:extLst xmlns:a="http://schemas.openxmlformats.org/drawingml/2006/main">
              <a:ext uri="{FF2B5EF4-FFF2-40B4-BE49-F238E27FC236}">
                <a16:creationId xmlns:a16="http://schemas.microsoft.com/office/drawing/2014/main" id="{8089446E-F70B-4B5B-A2F1-AD0D6DCC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3" y="18416215"/>
            <a:ext cx="3130826" cy="29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96" b="1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696" b="1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两个任务基准，各自与人类比较</a:t>
            </a:r>
          </a:p>
        </p:txBody>
      </p:sp>
      <p:sp>
        <p:nvSpPr>
          <p:cNvPr id="69" name="rect-068">
            <a:extLst xmlns:a="http://schemas.openxmlformats.org/drawingml/2006/main">
              <a:ext uri="{FF2B5EF4-FFF2-40B4-BE49-F238E27FC236}">
                <a16:creationId xmlns:a16="http://schemas.microsoft.com/office/drawing/2014/main" id="{BD10A07E-9F9B-433F-84EB-7DD5C9A7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8892630"/>
            <a:ext cx="149087" cy="1490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70" name="text-069">
            <a:extLst xmlns:a="http://schemas.openxmlformats.org/drawingml/2006/main">
              <a:ext uri="{FF2B5EF4-FFF2-40B4-BE49-F238E27FC236}">
                <a16:creationId xmlns:a16="http://schemas.microsoft.com/office/drawing/2014/main" id="{87ADEA46-BFF2-4C69-BBF7-29E7A189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3" y="18872918"/>
            <a:ext cx="1350065" cy="212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9" b="0">
                <a:solidFill>
                  <a:srgbClr val="1F5260"/>
                </a:solidFill>
                <a:latin typeface="Noto Sans SC"/>
                <a:ea typeface="Noto Sans SC"/>
                <a:cs typeface="Noto Sans SC"/>
              </a:defRPr>
            </a:pPr>
            <a:r>
              <a:rPr sz="1239" b="0">
                <a:solidFill>
                  <a:srgbClr val="1F5260"/>
                </a:solidFill>
                <a:latin typeface="Noto Sans SC"/>
                <a:ea typeface="Noto Sans SC"/>
                <a:cs typeface="Noto Sans SC"/>
              </a:rPr>
              <a:t>报告记录的领先AI</a:t>
            </a:r>
          </a:p>
        </p:txBody>
      </p:sp>
      <p:sp>
        <p:nvSpPr>
          <p:cNvPr id="71" name="rect-070">
            <a:extLst xmlns:a="http://schemas.openxmlformats.org/drawingml/2006/main">
              <a:ext uri="{FF2B5EF4-FFF2-40B4-BE49-F238E27FC236}">
                <a16:creationId xmlns:a16="http://schemas.microsoft.com/office/drawing/2014/main" id="{172A1F0B-5B75-4838-BFD7-C94E9102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043" y="18892630"/>
            <a:ext cx="149087" cy="1490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72" name="text-071">
            <a:extLst xmlns:a="http://schemas.openxmlformats.org/drawingml/2006/main">
              <a:ext uri="{FF2B5EF4-FFF2-40B4-BE49-F238E27FC236}">
                <a16:creationId xmlns:a16="http://schemas.microsoft.com/office/drawing/2014/main" id="{59C7627E-9551-443A-A628-B089BC41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804" y="18872918"/>
            <a:ext cx="1374913" cy="212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23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各基准的人类基线</a:t>
            </a:r>
          </a:p>
        </p:txBody>
      </p:sp>
      <p:sp>
        <p:nvSpPr>
          <p:cNvPr id="73" name="text-072">
            <a:extLst xmlns:a="http://schemas.openxmlformats.org/drawingml/2006/main">
              <a:ext uri="{FF2B5EF4-FFF2-40B4-BE49-F238E27FC236}">
                <a16:creationId xmlns:a16="http://schemas.microsoft.com/office/drawing/2014/main" id="{65D3DB38-D87B-4325-BA3B-890CC3F4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9410459"/>
            <a:ext cx="853109" cy="26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5" b="1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65" b="1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OSWorld</a:t>
            </a:r>
          </a:p>
        </p:txBody>
      </p:sp>
      <p:sp>
        <p:nvSpPr>
          <p:cNvPr id="74" name="text-073">
            <a:extLst xmlns:a="http://schemas.openxmlformats.org/drawingml/2006/main">
              <a:ext uri="{FF2B5EF4-FFF2-40B4-BE49-F238E27FC236}">
                <a16:creationId xmlns:a16="http://schemas.microsoft.com/office/drawing/2014/main" id="{E6F37713-0E7E-4588-890B-1C265C2D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19718075"/>
            <a:ext cx="1350065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桌面 / 文件 / 多应用</a:t>
            </a:r>
          </a:p>
        </p:txBody>
      </p:sp>
      <p:sp>
        <p:nvSpPr>
          <p:cNvPr id="75" name="F3-OSWorld-AI">
            <a:extLst xmlns:a="http://schemas.openxmlformats.org/drawingml/2006/main">
              <a:ext uri="{FF2B5EF4-FFF2-40B4-BE49-F238E27FC236}">
                <a16:creationId xmlns:a16="http://schemas.microsoft.com/office/drawing/2014/main" id="{41F1B820-FBD0-4152-ACC2-971F28A2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739" y="19381304"/>
            <a:ext cx="2663314" cy="2401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76" name="F3-OSWorld-human">
            <a:extLst xmlns:a="http://schemas.openxmlformats.org/drawingml/2006/main">
              <a:ext uri="{FF2B5EF4-FFF2-40B4-BE49-F238E27FC236}">
                <a16:creationId xmlns:a16="http://schemas.microsoft.com/office/drawing/2014/main" id="{7A4AF91D-3B75-4F84-ABBA-858C46B0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739" y="19712609"/>
            <a:ext cx="2906347" cy="2401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77" name="text-076">
            <a:extLst xmlns:a="http://schemas.openxmlformats.org/drawingml/2006/main">
              <a:ext uri="{FF2B5EF4-FFF2-40B4-BE49-F238E27FC236}">
                <a16:creationId xmlns:a16="http://schemas.microsoft.com/office/drawing/2014/main" id="{48E4A4EE-A3E2-46EA-9D6F-0D2F40BB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162" y="19410956"/>
            <a:ext cx="588065" cy="23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1">
                <a:solidFill>
                  <a:srgbClr val="1F5260"/>
                </a:solidFill>
                <a:latin typeface="Noto Sans SC"/>
                <a:ea typeface="Noto Sans SC"/>
                <a:cs typeface="Noto Sans SC"/>
              </a:defRPr>
            </a:pPr>
            <a:r>
              <a:rPr sz="1370" b="1">
                <a:solidFill>
                  <a:srgbClr val="1F5260"/>
                </a:solidFill>
                <a:latin typeface="Noto Sans SC"/>
                <a:ea typeface="Noto Sans SC"/>
                <a:cs typeface="Noto Sans SC"/>
              </a:rPr>
              <a:t>66.3%</a:t>
            </a:r>
          </a:p>
        </p:txBody>
      </p:sp>
      <p:sp>
        <p:nvSpPr>
          <p:cNvPr id="78" name="text-077">
            <a:extLst xmlns:a="http://schemas.openxmlformats.org/drawingml/2006/main">
              <a:ext uri="{FF2B5EF4-FFF2-40B4-BE49-F238E27FC236}">
                <a16:creationId xmlns:a16="http://schemas.microsoft.com/office/drawing/2014/main" id="{F7569177-4782-4339-99F6-5A9AB512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195" y="19742260"/>
            <a:ext cx="588065" cy="23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370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72.4%</a:t>
            </a:r>
          </a:p>
        </p:txBody>
      </p:sp>
      <p:sp>
        <p:nvSpPr>
          <p:cNvPr id="79" name="text-078">
            <a:extLst xmlns:a="http://schemas.openxmlformats.org/drawingml/2006/main">
              <a:ext uri="{FF2B5EF4-FFF2-40B4-BE49-F238E27FC236}">
                <a16:creationId xmlns:a16="http://schemas.microsoft.com/office/drawing/2014/main" id="{1A4031E2-153E-484F-9E46-09A16B7F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0470633"/>
            <a:ext cx="985630" cy="26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5" b="1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65" b="1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WebArena</a:t>
            </a:r>
          </a:p>
        </p:txBody>
      </p:sp>
      <p:sp>
        <p:nvSpPr>
          <p:cNvPr id="80" name="text-079">
            <a:extLst xmlns:a="http://schemas.openxmlformats.org/drawingml/2006/main">
              <a:ext uri="{FF2B5EF4-FFF2-40B4-BE49-F238E27FC236}">
                <a16:creationId xmlns:a16="http://schemas.microsoft.com/office/drawing/2014/main" id="{273F86A2-2CED-4ED0-A365-BE567F47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0778249"/>
            <a:ext cx="1101587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跨网页完成目标</a:t>
            </a:r>
          </a:p>
        </p:txBody>
      </p:sp>
      <p:sp>
        <p:nvSpPr>
          <p:cNvPr id="81" name="F3-WebArena-AI">
            <a:extLst xmlns:a="http://schemas.openxmlformats.org/drawingml/2006/main">
              <a:ext uri="{FF2B5EF4-FFF2-40B4-BE49-F238E27FC236}">
                <a16:creationId xmlns:a16="http://schemas.microsoft.com/office/drawing/2014/main" id="{49C1532E-99FF-4CAC-8FD8-36109D4E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739" y="20441478"/>
            <a:ext cx="2984679" cy="2401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82" name="F3-WebArena-human">
            <a:extLst xmlns:a="http://schemas.openxmlformats.org/drawingml/2006/main">
              <a:ext uri="{FF2B5EF4-FFF2-40B4-BE49-F238E27FC236}">
                <a16:creationId xmlns:a16="http://schemas.microsoft.com/office/drawing/2014/main" id="{EF50872E-04EE-463F-A5F7-25C3A044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739" y="20772783"/>
            <a:ext cx="3142952" cy="2401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83" name="text-082">
            <a:extLst xmlns:a="http://schemas.openxmlformats.org/drawingml/2006/main">
              <a:ext uri="{FF2B5EF4-FFF2-40B4-BE49-F238E27FC236}">
                <a16:creationId xmlns:a16="http://schemas.microsoft.com/office/drawing/2014/main" id="{4371D96E-7B91-4980-9905-0FCC1920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527" y="20471130"/>
            <a:ext cx="588065" cy="23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1">
                <a:solidFill>
                  <a:srgbClr val="1F5260"/>
                </a:solidFill>
                <a:latin typeface="Noto Sans SC"/>
                <a:ea typeface="Noto Sans SC"/>
                <a:cs typeface="Noto Sans SC"/>
              </a:defRPr>
            </a:pPr>
            <a:r>
              <a:rPr sz="1370" b="1">
                <a:solidFill>
                  <a:srgbClr val="1F5260"/>
                </a:solidFill>
                <a:latin typeface="Noto Sans SC"/>
                <a:ea typeface="Noto Sans SC"/>
                <a:cs typeface="Noto Sans SC"/>
              </a:rPr>
              <a:t>74.3%</a:t>
            </a:r>
          </a:p>
        </p:txBody>
      </p:sp>
      <p:sp>
        <p:nvSpPr>
          <p:cNvPr id="84" name="text-083">
            <a:extLst xmlns:a="http://schemas.openxmlformats.org/drawingml/2006/main">
              <a:ext uri="{FF2B5EF4-FFF2-40B4-BE49-F238E27FC236}">
                <a16:creationId xmlns:a16="http://schemas.microsoft.com/office/drawing/2014/main" id="{2C8B2370-EEE8-4CAF-B365-FA92268E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800" y="20802434"/>
            <a:ext cx="588065" cy="23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370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78.2%</a:t>
            </a:r>
          </a:p>
        </p:txBody>
      </p:sp>
      <p:sp>
        <p:nvSpPr>
          <p:cNvPr id="85" name="line-084">
            <a:extLst xmlns:a="http://schemas.openxmlformats.org/drawingml/2006/main">
              <a:ext uri="{FF2B5EF4-FFF2-40B4-BE49-F238E27FC236}">
                <a16:creationId xmlns:a16="http://schemas.microsoft.com/office/drawing/2014/main" id="{0FA1F215-2E0A-4A18-A9A2-884383B2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739" y="21567913"/>
            <a:ext cx="4017065" cy="82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86" name="line-085">
            <a:extLst xmlns:a="http://schemas.openxmlformats.org/drawingml/2006/main">
              <a:ext uri="{FF2B5EF4-FFF2-40B4-BE49-F238E27FC236}">
                <a16:creationId xmlns:a16="http://schemas.microsoft.com/office/drawing/2014/main" id="{E10E7ABE-AABD-4487-9CAC-664EE8D1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739" y="21567913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87" name="text-086">
            <a:extLst xmlns:a="http://schemas.openxmlformats.org/drawingml/2006/main">
              <a:ext uri="{FF2B5EF4-FFF2-40B4-BE49-F238E27FC236}">
                <a16:creationId xmlns:a16="http://schemas.microsoft.com/office/drawing/2014/main" id="{E4AB6CB7-8A26-41DF-92FA-41839A40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913" y="21672771"/>
            <a:ext cx="190500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0</a:t>
            </a:r>
          </a:p>
        </p:txBody>
      </p:sp>
      <p:sp>
        <p:nvSpPr>
          <p:cNvPr id="88" name="line-087">
            <a:extLst xmlns:a="http://schemas.openxmlformats.org/drawingml/2006/main">
              <a:ext uri="{FF2B5EF4-FFF2-40B4-BE49-F238E27FC236}">
                <a16:creationId xmlns:a16="http://schemas.microsoft.com/office/drawing/2014/main" id="{B4C5A062-FBED-4145-88ED-F77E5ABA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005" y="21567913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89" name="text-088">
            <a:extLst xmlns:a="http://schemas.openxmlformats.org/drawingml/2006/main">
              <a:ext uri="{FF2B5EF4-FFF2-40B4-BE49-F238E27FC236}">
                <a16:creationId xmlns:a16="http://schemas.microsoft.com/office/drawing/2014/main" id="{525557D9-5ED2-4635-91F0-DD4F179B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179" y="21672771"/>
            <a:ext cx="265043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25</a:t>
            </a:r>
          </a:p>
        </p:txBody>
      </p:sp>
      <p:sp>
        <p:nvSpPr>
          <p:cNvPr id="90" name="line-089">
            <a:extLst xmlns:a="http://schemas.openxmlformats.org/drawingml/2006/main">
              <a:ext uri="{FF2B5EF4-FFF2-40B4-BE49-F238E27FC236}">
                <a16:creationId xmlns:a16="http://schemas.microsoft.com/office/drawing/2014/main" id="{49B9F890-E09C-40F9-8A70-C4D78492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272" y="21567913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91" name="text-090">
            <a:extLst xmlns:a="http://schemas.openxmlformats.org/drawingml/2006/main">
              <a:ext uri="{FF2B5EF4-FFF2-40B4-BE49-F238E27FC236}">
                <a16:creationId xmlns:a16="http://schemas.microsoft.com/office/drawing/2014/main" id="{DA159CE5-9605-4F7D-A339-4F376FE3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446" y="21672771"/>
            <a:ext cx="265043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50</a:t>
            </a:r>
          </a:p>
        </p:txBody>
      </p:sp>
      <p:sp>
        <p:nvSpPr>
          <p:cNvPr id="92" name="line-091">
            <a:extLst xmlns:a="http://schemas.openxmlformats.org/drawingml/2006/main">
              <a:ext uri="{FF2B5EF4-FFF2-40B4-BE49-F238E27FC236}">
                <a16:creationId xmlns:a16="http://schemas.microsoft.com/office/drawing/2014/main" id="{97FD2DF4-369F-47E0-A099-C63A08D4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538" y="21567913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93" name="text-092">
            <a:extLst xmlns:a="http://schemas.openxmlformats.org/drawingml/2006/main">
              <a:ext uri="{FF2B5EF4-FFF2-40B4-BE49-F238E27FC236}">
                <a16:creationId xmlns:a16="http://schemas.microsoft.com/office/drawing/2014/main" id="{9CA630D4-CC41-4E72-A6FB-BB9F6528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712" y="21672771"/>
            <a:ext cx="265043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75</a:t>
            </a:r>
          </a:p>
        </p:txBody>
      </p:sp>
      <p:sp>
        <p:nvSpPr>
          <p:cNvPr id="94" name="line-093">
            <a:extLst xmlns:a="http://schemas.openxmlformats.org/drawingml/2006/main">
              <a:ext uri="{FF2B5EF4-FFF2-40B4-BE49-F238E27FC236}">
                <a16:creationId xmlns:a16="http://schemas.microsoft.com/office/drawing/2014/main" id="{0986B950-64B2-4DFA-BB84-4D6BD830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804" y="21567913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95" name="text-094">
            <a:extLst xmlns:a="http://schemas.openxmlformats.org/drawingml/2006/main">
              <a:ext uri="{FF2B5EF4-FFF2-40B4-BE49-F238E27FC236}">
                <a16:creationId xmlns:a16="http://schemas.microsoft.com/office/drawing/2014/main" id="{E6DF2AE2-E81B-47D5-AE25-B12C5F3F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978" y="21672771"/>
            <a:ext cx="339587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100</a:t>
            </a:r>
          </a:p>
        </p:txBody>
      </p:sp>
      <p:sp>
        <p:nvSpPr>
          <p:cNvPr id="96" name="text-095">
            <a:extLst xmlns:a="http://schemas.openxmlformats.org/drawingml/2006/main">
              <a:ext uri="{FF2B5EF4-FFF2-40B4-BE49-F238E27FC236}">
                <a16:creationId xmlns:a16="http://schemas.microsoft.com/office/drawing/2014/main" id="{4937A267-1511-4F01-81B3-9466910A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1962497"/>
            <a:ext cx="7371522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S2  ·  AI Index 2026，报告记录的2025至2026年初结果。不同基准不合成总分。</a:t>
            </a:r>
          </a:p>
        </p:txBody>
      </p:sp>
      <p:sp>
        <p:nvSpPr>
          <p:cNvPr id="97" name="text-096">
            <a:extLst xmlns:a="http://schemas.openxmlformats.org/drawingml/2006/main">
              <a:ext uri="{FF2B5EF4-FFF2-40B4-BE49-F238E27FC236}">
                <a16:creationId xmlns:a16="http://schemas.microsoft.com/office/drawing/2014/main" id="{E01F1972-9153-4CA8-901A-1C7DF89E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2517431"/>
            <a:ext cx="339587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1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1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图4</a:t>
            </a:r>
          </a:p>
        </p:txBody>
      </p:sp>
      <p:sp>
        <p:nvSpPr>
          <p:cNvPr id="98" name="text-097">
            <a:extLst xmlns:a="http://schemas.openxmlformats.org/drawingml/2006/main">
              <a:ext uri="{FF2B5EF4-FFF2-40B4-BE49-F238E27FC236}">
                <a16:creationId xmlns:a16="http://schemas.microsoft.com/office/drawing/2014/main" id="{E7B44814-05AE-4C2F-8F53-8EAFED17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3" y="22449845"/>
            <a:ext cx="2700130" cy="29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96" b="1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696" b="1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自建工具开始替代部分采购</a:t>
            </a:r>
          </a:p>
        </p:txBody>
      </p:sp>
      <p:sp>
        <p:nvSpPr>
          <p:cNvPr id="99" name="F4-cell-0">
            <a:extLst xmlns:a="http://schemas.openxmlformats.org/drawingml/2006/main">
              <a:ext uri="{FF2B5EF4-FFF2-40B4-BE49-F238E27FC236}">
                <a16:creationId xmlns:a16="http://schemas.microsoft.com/office/drawing/2014/main" id="{0DDA85A5-E450-4391-AFCD-4EA38EB3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295939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00" name="F4-cell-1">
            <a:extLst xmlns:a="http://schemas.openxmlformats.org/drawingml/2006/main">
              <a:ext uri="{FF2B5EF4-FFF2-40B4-BE49-F238E27FC236}">
                <a16:creationId xmlns:a16="http://schemas.microsoft.com/office/drawing/2014/main" id="{93A1359B-C4B8-49F0-81FF-C046FD27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95939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01" name="F4-cell-2">
            <a:extLst xmlns:a="http://schemas.openxmlformats.org/drawingml/2006/main">
              <a:ext uri="{FF2B5EF4-FFF2-40B4-BE49-F238E27FC236}">
                <a16:creationId xmlns:a16="http://schemas.microsoft.com/office/drawing/2014/main" id="{C05F35C8-BCAF-4788-819B-E5EDA8DC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17" y="2295939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02" name="F4-cell-3">
            <a:extLst xmlns:a="http://schemas.openxmlformats.org/drawingml/2006/main">
              <a:ext uri="{FF2B5EF4-FFF2-40B4-BE49-F238E27FC236}">
                <a16:creationId xmlns:a16="http://schemas.microsoft.com/office/drawing/2014/main" id="{B4289112-4C82-4599-BB03-DBB17BA6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35" y="2295939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03" name="F4-cell-4">
            <a:extLst xmlns:a="http://schemas.openxmlformats.org/drawingml/2006/main">
              <a:ext uri="{FF2B5EF4-FFF2-40B4-BE49-F238E27FC236}">
                <a16:creationId xmlns:a16="http://schemas.microsoft.com/office/drawing/2014/main" id="{A91BE22F-35F1-4CD3-890F-7F79711E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652" y="2295939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04" name="F4-cell-5">
            <a:extLst xmlns:a="http://schemas.openxmlformats.org/drawingml/2006/main">
              <a:ext uri="{FF2B5EF4-FFF2-40B4-BE49-F238E27FC236}">
                <a16:creationId xmlns:a16="http://schemas.microsoft.com/office/drawing/2014/main" id="{47EC0C3D-1110-4A07-BE79-497B2B2B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70" y="2295939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05" name="F4-cell-6">
            <a:extLst xmlns:a="http://schemas.openxmlformats.org/drawingml/2006/main">
              <a:ext uri="{FF2B5EF4-FFF2-40B4-BE49-F238E27FC236}">
                <a16:creationId xmlns:a16="http://schemas.microsoft.com/office/drawing/2014/main" id="{5ABA1CDE-449D-419F-AB37-C17B5AC4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087" y="2295939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06" name="F4-cell-7">
            <a:extLst xmlns:a="http://schemas.openxmlformats.org/drawingml/2006/main">
              <a:ext uri="{FF2B5EF4-FFF2-40B4-BE49-F238E27FC236}">
                <a16:creationId xmlns:a16="http://schemas.microsoft.com/office/drawing/2014/main" id="{234460B7-14B2-4B55-B7D3-F1570A98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304" y="2295939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07" name="F4-cell-8">
            <a:extLst xmlns:a="http://schemas.openxmlformats.org/drawingml/2006/main">
              <a:ext uri="{FF2B5EF4-FFF2-40B4-BE49-F238E27FC236}">
                <a16:creationId xmlns:a16="http://schemas.microsoft.com/office/drawing/2014/main" id="{41D350EA-0BCE-4959-B5D9-1C22BA75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522" y="2295939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08" name="F4-cell-9">
            <a:extLst xmlns:a="http://schemas.openxmlformats.org/drawingml/2006/main">
              <a:ext uri="{FF2B5EF4-FFF2-40B4-BE49-F238E27FC236}">
                <a16:creationId xmlns:a16="http://schemas.microsoft.com/office/drawing/2014/main" id="{1CB87CC6-4373-4664-B5F9-BE229B80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739" y="2295939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09" name="F4-cell-10">
            <a:extLst xmlns:a="http://schemas.openxmlformats.org/drawingml/2006/main">
              <a:ext uri="{FF2B5EF4-FFF2-40B4-BE49-F238E27FC236}">
                <a16:creationId xmlns:a16="http://schemas.microsoft.com/office/drawing/2014/main" id="{202742B4-A2E7-417C-8048-A0826129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3141609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10" name="F4-cell-11">
            <a:extLst xmlns:a="http://schemas.openxmlformats.org/drawingml/2006/main">
              <a:ext uri="{FF2B5EF4-FFF2-40B4-BE49-F238E27FC236}">
                <a16:creationId xmlns:a16="http://schemas.microsoft.com/office/drawing/2014/main" id="{097F0980-53AA-49DA-AD01-CA2504D2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1609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11" name="F4-cell-12">
            <a:extLst xmlns:a="http://schemas.openxmlformats.org/drawingml/2006/main">
              <a:ext uri="{FF2B5EF4-FFF2-40B4-BE49-F238E27FC236}">
                <a16:creationId xmlns:a16="http://schemas.microsoft.com/office/drawing/2014/main" id="{2AEB8D26-E5E5-44F3-9F70-0392EAB7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17" y="23141609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12" name="F4-cell-13">
            <a:extLst xmlns:a="http://schemas.openxmlformats.org/drawingml/2006/main">
              <a:ext uri="{FF2B5EF4-FFF2-40B4-BE49-F238E27FC236}">
                <a16:creationId xmlns:a16="http://schemas.microsoft.com/office/drawing/2014/main" id="{1BDA63AA-9AB2-40A3-9DD9-D88E2043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35" y="23141609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13" name="F4-cell-14">
            <a:extLst xmlns:a="http://schemas.openxmlformats.org/drawingml/2006/main">
              <a:ext uri="{FF2B5EF4-FFF2-40B4-BE49-F238E27FC236}">
                <a16:creationId xmlns:a16="http://schemas.microsoft.com/office/drawing/2014/main" id="{E0402157-58A2-4087-BB2B-6EAB2004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652" y="23141609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14" name="F4-cell-15">
            <a:extLst xmlns:a="http://schemas.openxmlformats.org/drawingml/2006/main">
              <a:ext uri="{FF2B5EF4-FFF2-40B4-BE49-F238E27FC236}">
                <a16:creationId xmlns:a16="http://schemas.microsoft.com/office/drawing/2014/main" id="{3768A24C-CE23-4DBE-88D1-85E39EC9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70" y="23141609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15" name="F4-cell-16">
            <a:extLst xmlns:a="http://schemas.openxmlformats.org/drawingml/2006/main">
              <a:ext uri="{FF2B5EF4-FFF2-40B4-BE49-F238E27FC236}">
                <a16:creationId xmlns:a16="http://schemas.microsoft.com/office/drawing/2014/main" id="{E9E8AE5D-F5C3-436E-A33F-77E88214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087" y="23141609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16" name="F4-cell-17">
            <a:extLst xmlns:a="http://schemas.openxmlformats.org/drawingml/2006/main">
              <a:ext uri="{FF2B5EF4-FFF2-40B4-BE49-F238E27FC236}">
                <a16:creationId xmlns:a16="http://schemas.microsoft.com/office/drawing/2014/main" id="{E7D17DA1-28A1-4732-900D-C6DFEBE0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304" y="23141609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17" name="F4-cell-18">
            <a:extLst xmlns:a="http://schemas.openxmlformats.org/drawingml/2006/main">
              <a:ext uri="{FF2B5EF4-FFF2-40B4-BE49-F238E27FC236}">
                <a16:creationId xmlns:a16="http://schemas.microsoft.com/office/drawing/2014/main" id="{8553D3A4-54A0-4A67-A66C-42263296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522" y="23141609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18" name="F4-cell-19">
            <a:extLst xmlns:a="http://schemas.openxmlformats.org/drawingml/2006/main">
              <a:ext uri="{FF2B5EF4-FFF2-40B4-BE49-F238E27FC236}">
                <a16:creationId xmlns:a16="http://schemas.microsoft.com/office/drawing/2014/main" id="{C07EE22B-4481-4F6C-BD8B-758866F6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739" y="23141609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19" name="F4-cell-20">
            <a:extLst xmlns:a="http://schemas.openxmlformats.org/drawingml/2006/main">
              <a:ext uri="{FF2B5EF4-FFF2-40B4-BE49-F238E27FC236}">
                <a16:creationId xmlns:a16="http://schemas.microsoft.com/office/drawing/2014/main" id="{D0E2A800-FE3C-4672-BA6F-52F112AB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332382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20" name="F4-cell-21">
            <a:extLst xmlns:a="http://schemas.openxmlformats.org/drawingml/2006/main">
              <a:ext uri="{FF2B5EF4-FFF2-40B4-BE49-F238E27FC236}">
                <a16:creationId xmlns:a16="http://schemas.microsoft.com/office/drawing/2014/main" id="{276DB66C-682D-4A31-8244-F9936C11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2382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21" name="F4-cell-22">
            <a:extLst xmlns:a="http://schemas.openxmlformats.org/drawingml/2006/main">
              <a:ext uri="{FF2B5EF4-FFF2-40B4-BE49-F238E27FC236}">
                <a16:creationId xmlns:a16="http://schemas.microsoft.com/office/drawing/2014/main" id="{16B16948-632B-49DA-8C45-B5174FEE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17" y="2332382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22" name="F4-cell-23">
            <a:extLst xmlns:a="http://schemas.openxmlformats.org/drawingml/2006/main">
              <a:ext uri="{FF2B5EF4-FFF2-40B4-BE49-F238E27FC236}">
                <a16:creationId xmlns:a16="http://schemas.microsoft.com/office/drawing/2014/main" id="{54D0C338-2106-471F-830F-31D0D633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35" y="2332382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23" name="F4-cell-24">
            <a:extLst xmlns:a="http://schemas.openxmlformats.org/drawingml/2006/main">
              <a:ext uri="{FF2B5EF4-FFF2-40B4-BE49-F238E27FC236}">
                <a16:creationId xmlns:a16="http://schemas.microsoft.com/office/drawing/2014/main" id="{5D243E51-630F-43D7-8907-713BE4C7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652" y="2332382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24" name="F4-cell-25">
            <a:extLst xmlns:a="http://schemas.openxmlformats.org/drawingml/2006/main">
              <a:ext uri="{FF2B5EF4-FFF2-40B4-BE49-F238E27FC236}">
                <a16:creationId xmlns:a16="http://schemas.microsoft.com/office/drawing/2014/main" id="{0B32C6F7-B284-4E6C-82C7-52394E05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70" y="2332382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25" name="F4-cell-26">
            <a:extLst xmlns:a="http://schemas.openxmlformats.org/drawingml/2006/main">
              <a:ext uri="{FF2B5EF4-FFF2-40B4-BE49-F238E27FC236}">
                <a16:creationId xmlns:a16="http://schemas.microsoft.com/office/drawing/2014/main" id="{53C6AA2B-B1D6-4B76-BE9C-E3261713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087" y="2332382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26" name="F4-cell-27">
            <a:extLst xmlns:a="http://schemas.openxmlformats.org/drawingml/2006/main">
              <a:ext uri="{FF2B5EF4-FFF2-40B4-BE49-F238E27FC236}">
                <a16:creationId xmlns:a16="http://schemas.microsoft.com/office/drawing/2014/main" id="{CB16AB4F-79FF-450C-8517-FB62A123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304" y="2332382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27" name="F4-cell-28">
            <a:extLst xmlns:a="http://schemas.openxmlformats.org/drawingml/2006/main">
              <a:ext uri="{FF2B5EF4-FFF2-40B4-BE49-F238E27FC236}">
                <a16:creationId xmlns:a16="http://schemas.microsoft.com/office/drawing/2014/main" id="{AB1B4BE7-C91A-4D42-BDA2-2D1B1658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522" y="2332382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28" name="F4-cell-29">
            <a:extLst xmlns:a="http://schemas.openxmlformats.org/drawingml/2006/main">
              <a:ext uri="{FF2B5EF4-FFF2-40B4-BE49-F238E27FC236}">
                <a16:creationId xmlns:a16="http://schemas.microsoft.com/office/drawing/2014/main" id="{36EE10E8-1A90-4093-BC5C-D97AAA34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739" y="2332382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29" name="F4-cell-30">
            <a:extLst xmlns:a="http://schemas.openxmlformats.org/drawingml/2006/main">
              <a:ext uri="{FF2B5EF4-FFF2-40B4-BE49-F238E27FC236}">
                <a16:creationId xmlns:a16="http://schemas.microsoft.com/office/drawing/2014/main" id="{B2ABDED4-0469-4FCB-ABF3-7B987D72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350604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30" name="F4-cell-31">
            <a:extLst xmlns:a="http://schemas.openxmlformats.org/drawingml/2006/main">
              <a:ext uri="{FF2B5EF4-FFF2-40B4-BE49-F238E27FC236}">
                <a16:creationId xmlns:a16="http://schemas.microsoft.com/office/drawing/2014/main" id="{62B638FE-93E7-45A8-9ADB-373037A1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0604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131" name="F4-cell-32">
            <a:extLst xmlns:a="http://schemas.openxmlformats.org/drawingml/2006/main">
              <a:ext uri="{FF2B5EF4-FFF2-40B4-BE49-F238E27FC236}">
                <a16:creationId xmlns:a16="http://schemas.microsoft.com/office/drawing/2014/main" id="{EDDF8DCB-55DF-4515-8179-2F96921D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17" y="2350604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32" name="F4-cell-33">
            <a:extLst xmlns:a="http://schemas.openxmlformats.org/drawingml/2006/main">
              <a:ext uri="{FF2B5EF4-FFF2-40B4-BE49-F238E27FC236}">
                <a16:creationId xmlns:a16="http://schemas.microsoft.com/office/drawing/2014/main" id="{05678036-C662-4AF6-BE90-F769A020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35" y="2350604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33" name="F4-cell-34">
            <a:extLst xmlns:a="http://schemas.openxmlformats.org/drawingml/2006/main">
              <a:ext uri="{FF2B5EF4-FFF2-40B4-BE49-F238E27FC236}">
                <a16:creationId xmlns:a16="http://schemas.microsoft.com/office/drawing/2014/main" id="{7647C2A0-1AC7-42EB-B42F-79B8B40C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652" y="2350604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34" name="F4-cell-35">
            <a:extLst xmlns:a="http://schemas.openxmlformats.org/drawingml/2006/main">
              <a:ext uri="{FF2B5EF4-FFF2-40B4-BE49-F238E27FC236}">
                <a16:creationId xmlns:a16="http://schemas.microsoft.com/office/drawing/2014/main" id="{EB25D07B-7DF5-4DCD-A4EA-6DF91763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70" y="2350604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35" name="F4-cell-36">
            <a:extLst xmlns:a="http://schemas.openxmlformats.org/drawingml/2006/main">
              <a:ext uri="{FF2B5EF4-FFF2-40B4-BE49-F238E27FC236}">
                <a16:creationId xmlns:a16="http://schemas.microsoft.com/office/drawing/2014/main" id="{3F34511E-104D-44D8-9077-19B9507B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087" y="2350604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36" name="F4-cell-37">
            <a:extLst xmlns:a="http://schemas.openxmlformats.org/drawingml/2006/main">
              <a:ext uri="{FF2B5EF4-FFF2-40B4-BE49-F238E27FC236}">
                <a16:creationId xmlns:a16="http://schemas.microsoft.com/office/drawing/2014/main" id="{3BD54978-002A-4B6C-B20E-70621696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304" y="2350604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37" name="F4-cell-38">
            <a:extLst xmlns:a="http://schemas.openxmlformats.org/drawingml/2006/main">
              <a:ext uri="{FF2B5EF4-FFF2-40B4-BE49-F238E27FC236}">
                <a16:creationId xmlns:a16="http://schemas.microsoft.com/office/drawing/2014/main" id="{1E3665C8-809B-4D4F-A287-F83FC2D2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522" y="2350604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38" name="F4-cell-39">
            <a:extLst xmlns:a="http://schemas.openxmlformats.org/drawingml/2006/main">
              <a:ext uri="{FF2B5EF4-FFF2-40B4-BE49-F238E27FC236}">
                <a16:creationId xmlns:a16="http://schemas.microsoft.com/office/drawing/2014/main" id="{AFD466F9-95AB-4959-B93A-FFA1FCE6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739" y="2350604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39" name="F4-cell-40">
            <a:extLst xmlns:a="http://schemas.openxmlformats.org/drawingml/2006/main">
              <a:ext uri="{FF2B5EF4-FFF2-40B4-BE49-F238E27FC236}">
                <a16:creationId xmlns:a16="http://schemas.microsoft.com/office/drawing/2014/main" id="{FCC2D304-7FC2-4108-8584-2001EDD5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368826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40" name="F4-cell-41">
            <a:extLst xmlns:a="http://schemas.openxmlformats.org/drawingml/2006/main">
              <a:ext uri="{FF2B5EF4-FFF2-40B4-BE49-F238E27FC236}">
                <a16:creationId xmlns:a16="http://schemas.microsoft.com/office/drawing/2014/main" id="{336196A7-885B-428C-9FA5-1C5CAA25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8826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41" name="F4-cell-42">
            <a:extLst xmlns:a="http://schemas.openxmlformats.org/drawingml/2006/main">
              <a:ext uri="{FF2B5EF4-FFF2-40B4-BE49-F238E27FC236}">
                <a16:creationId xmlns:a16="http://schemas.microsoft.com/office/drawing/2014/main" id="{8EDE8B48-971F-4B89-8779-5646F1B2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17" y="2368826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42" name="F4-cell-43">
            <a:extLst xmlns:a="http://schemas.openxmlformats.org/drawingml/2006/main">
              <a:ext uri="{FF2B5EF4-FFF2-40B4-BE49-F238E27FC236}">
                <a16:creationId xmlns:a16="http://schemas.microsoft.com/office/drawing/2014/main" id="{312EEA40-1E1C-4652-894B-C6C7334F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35" y="2368826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43" name="F4-cell-44">
            <a:extLst xmlns:a="http://schemas.openxmlformats.org/drawingml/2006/main">
              <a:ext uri="{FF2B5EF4-FFF2-40B4-BE49-F238E27FC236}">
                <a16:creationId xmlns:a16="http://schemas.microsoft.com/office/drawing/2014/main" id="{62F2B8DF-FB5C-486E-AB85-312BBDD2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652" y="2368826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44" name="F4-cell-45">
            <a:extLst xmlns:a="http://schemas.openxmlformats.org/drawingml/2006/main">
              <a:ext uri="{FF2B5EF4-FFF2-40B4-BE49-F238E27FC236}">
                <a16:creationId xmlns:a16="http://schemas.microsoft.com/office/drawing/2014/main" id="{DA5EE777-8FD1-4DE5-9324-F0177FA9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70" y="2368826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45" name="F4-cell-46">
            <a:extLst xmlns:a="http://schemas.openxmlformats.org/drawingml/2006/main">
              <a:ext uri="{FF2B5EF4-FFF2-40B4-BE49-F238E27FC236}">
                <a16:creationId xmlns:a16="http://schemas.microsoft.com/office/drawing/2014/main" id="{F4893F90-3036-434F-8ECE-4A7B687D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087" y="2368826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46" name="F4-cell-47">
            <a:extLst xmlns:a="http://schemas.openxmlformats.org/drawingml/2006/main">
              <a:ext uri="{FF2B5EF4-FFF2-40B4-BE49-F238E27FC236}">
                <a16:creationId xmlns:a16="http://schemas.microsoft.com/office/drawing/2014/main" id="{D8094F52-C570-4EA6-AB93-EF8781D7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304" y="2368826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47" name="F4-cell-48">
            <a:extLst xmlns:a="http://schemas.openxmlformats.org/drawingml/2006/main">
              <a:ext uri="{FF2B5EF4-FFF2-40B4-BE49-F238E27FC236}">
                <a16:creationId xmlns:a16="http://schemas.microsoft.com/office/drawing/2014/main" id="{C69F0A34-00B1-4300-89B6-E7C76B04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522" y="2368826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48" name="F4-cell-49">
            <a:extLst xmlns:a="http://schemas.openxmlformats.org/drawingml/2006/main">
              <a:ext uri="{FF2B5EF4-FFF2-40B4-BE49-F238E27FC236}">
                <a16:creationId xmlns:a16="http://schemas.microsoft.com/office/drawing/2014/main" id="{CE700F5B-A9BA-4643-82FF-34317358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739" y="23688261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49" name="F4-cell-50">
            <a:extLst xmlns:a="http://schemas.openxmlformats.org/drawingml/2006/main">
              <a:ext uri="{FF2B5EF4-FFF2-40B4-BE49-F238E27FC236}">
                <a16:creationId xmlns:a16="http://schemas.microsoft.com/office/drawing/2014/main" id="{FDE26D71-C1AE-4A70-B790-7D94BBC2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387047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50" name="F4-cell-51">
            <a:extLst xmlns:a="http://schemas.openxmlformats.org/drawingml/2006/main">
              <a:ext uri="{FF2B5EF4-FFF2-40B4-BE49-F238E27FC236}">
                <a16:creationId xmlns:a16="http://schemas.microsoft.com/office/drawing/2014/main" id="{F340C5E5-4DE8-448D-898D-F67AFB07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7047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51" name="F4-cell-52">
            <a:extLst xmlns:a="http://schemas.openxmlformats.org/drawingml/2006/main">
              <a:ext uri="{FF2B5EF4-FFF2-40B4-BE49-F238E27FC236}">
                <a16:creationId xmlns:a16="http://schemas.microsoft.com/office/drawing/2014/main" id="{FEA7632D-C9DB-4A5C-BD08-B2CF3D58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17" y="2387047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52" name="F4-cell-53">
            <a:extLst xmlns:a="http://schemas.openxmlformats.org/drawingml/2006/main">
              <a:ext uri="{FF2B5EF4-FFF2-40B4-BE49-F238E27FC236}">
                <a16:creationId xmlns:a16="http://schemas.microsoft.com/office/drawing/2014/main" id="{42D789ED-943A-46F6-89ED-F7E698C3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35" y="2387047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53" name="F4-cell-54">
            <a:extLst xmlns:a="http://schemas.openxmlformats.org/drawingml/2006/main">
              <a:ext uri="{FF2B5EF4-FFF2-40B4-BE49-F238E27FC236}">
                <a16:creationId xmlns:a16="http://schemas.microsoft.com/office/drawing/2014/main" id="{C3FC5CE2-1A44-42CA-8A4F-F337219F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652" y="2387047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54" name="F4-cell-55">
            <a:extLst xmlns:a="http://schemas.openxmlformats.org/drawingml/2006/main">
              <a:ext uri="{FF2B5EF4-FFF2-40B4-BE49-F238E27FC236}">
                <a16:creationId xmlns:a16="http://schemas.microsoft.com/office/drawing/2014/main" id="{BB59F7A3-444B-48C1-AF2D-200C5FBB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70" y="2387047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55" name="F4-cell-56">
            <a:extLst xmlns:a="http://schemas.openxmlformats.org/drawingml/2006/main">
              <a:ext uri="{FF2B5EF4-FFF2-40B4-BE49-F238E27FC236}">
                <a16:creationId xmlns:a16="http://schemas.microsoft.com/office/drawing/2014/main" id="{1A501FE7-23EF-4CFE-8B5D-F37345AF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087" y="2387047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56" name="F4-cell-57">
            <a:extLst xmlns:a="http://schemas.openxmlformats.org/drawingml/2006/main">
              <a:ext uri="{FF2B5EF4-FFF2-40B4-BE49-F238E27FC236}">
                <a16:creationId xmlns:a16="http://schemas.microsoft.com/office/drawing/2014/main" id="{6A2E0CE2-67EA-4B90-8A0F-29EDEB78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304" y="2387047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57" name="F4-cell-58">
            <a:extLst xmlns:a="http://schemas.openxmlformats.org/drawingml/2006/main">
              <a:ext uri="{FF2B5EF4-FFF2-40B4-BE49-F238E27FC236}">
                <a16:creationId xmlns:a16="http://schemas.microsoft.com/office/drawing/2014/main" id="{DB726FB7-469A-4744-BF9E-58410CF7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522" y="2387047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58" name="F4-cell-59">
            <a:extLst xmlns:a="http://schemas.openxmlformats.org/drawingml/2006/main">
              <a:ext uri="{FF2B5EF4-FFF2-40B4-BE49-F238E27FC236}">
                <a16:creationId xmlns:a16="http://schemas.microsoft.com/office/drawing/2014/main" id="{2FB1650B-F650-42ED-96BD-EF7C7C5D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739" y="2387047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59" name="F4-cell-60">
            <a:extLst xmlns:a="http://schemas.openxmlformats.org/drawingml/2006/main">
              <a:ext uri="{FF2B5EF4-FFF2-40B4-BE49-F238E27FC236}">
                <a16:creationId xmlns:a16="http://schemas.microsoft.com/office/drawing/2014/main" id="{1F3A3CD3-D2D8-4C3D-9FEB-B6C6CFEB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405269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60" name="F4-cell-61">
            <a:extLst xmlns:a="http://schemas.openxmlformats.org/drawingml/2006/main">
              <a:ext uri="{FF2B5EF4-FFF2-40B4-BE49-F238E27FC236}">
                <a16:creationId xmlns:a16="http://schemas.microsoft.com/office/drawing/2014/main" id="{A9EFFBA6-B05E-4039-8AF2-FF31DBCC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5269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61" name="F4-cell-62">
            <a:extLst xmlns:a="http://schemas.openxmlformats.org/drawingml/2006/main">
              <a:ext uri="{FF2B5EF4-FFF2-40B4-BE49-F238E27FC236}">
                <a16:creationId xmlns:a16="http://schemas.microsoft.com/office/drawing/2014/main" id="{5B955DCF-767D-495D-B6A8-0CEB2395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17" y="2405269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62" name="F4-cell-63">
            <a:extLst xmlns:a="http://schemas.openxmlformats.org/drawingml/2006/main">
              <a:ext uri="{FF2B5EF4-FFF2-40B4-BE49-F238E27FC236}">
                <a16:creationId xmlns:a16="http://schemas.microsoft.com/office/drawing/2014/main" id="{5107CAD4-A2C7-47CE-AE52-FC208F0F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35" y="2405269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63" name="F4-cell-64">
            <a:extLst xmlns:a="http://schemas.openxmlformats.org/drawingml/2006/main">
              <a:ext uri="{FF2B5EF4-FFF2-40B4-BE49-F238E27FC236}">
                <a16:creationId xmlns:a16="http://schemas.microsoft.com/office/drawing/2014/main" id="{105E5FD9-F342-4B47-AAD3-F23182E9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652" y="2405269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64" name="F4-cell-65">
            <a:extLst xmlns:a="http://schemas.openxmlformats.org/drawingml/2006/main">
              <a:ext uri="{FF2B5EF4-FFF2-40B4-BE49-F238E27FC236}">
                <a16:creationId xmlns:a16="http://schemas.microsoft.com/office/drawing/2014/main" id="{E03D670B-3942-45C7-8DF7-E360C7C9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70" y="2405269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65" name="F4-cell-66">
            <a:extLst xmlns:a="http://schemas.openxmlformats.org/drawingml/2006/main">
              <a:ext uri="{FF2B5EF4-FFF2-40B4-BE49-F238E27FC236}">
                <a16:creationId xmlns:a16="http://schemas.microsoft.com/office/drawing/2014/main" id="{1821E5B7-6E53-4952-ADA7-22B04BC6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087" y="2405269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66" name="F4-cell-67">
            <a:extLst xmlns:a="http://schemas.openxmlformats.org/drawingml/2006/main">
              <a:ext uri="{FF2B5EF4-FFF2-40B4-BE49-F238E27FC236}">
                <a16:creationId xmlns:a16="http://schemas.microsoft.com/office/drawing/2014/main" id="{4982B70D-4A97-4C2F-93BA-98B4C27B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304" y="2405269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67" name="F4-cell-68">
            <a:extLst xmlns:a="http://schemas.openxmlformats.org/drawingml/2006/main">
              <a:ext uri="{FF2B5EF4-FFF2-40B4-BE49-F238E27FC236}">
                <a16:creationId xmlns:a16="http://schemas.microsoft.com/office/drawing/2014/main" id="{84634C04-CF7C-41C8-A88C-12D14A12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522" y="2405269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68" name="F4-cell-69">
            <a:extLst xmlns:a="http://schemas.openxmlformats.org/drawingml/2006/main">
              <a:ext uri="{FF2B5EF4-FFF2-40B4-BE49-F238E27FC236}">
                <a16:creationId xmlns:a16="http://schemas.microsoft.com/office/drawing/2014/main" id="{734CCA3E-00C2-472E-8BFD-D3E3FDE9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739" y="24052696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69" name="F4-cell-70">
            <a:extLst xmlns:a="http://schemas.openxmlformats.org/drawingml/2006/main">
              <a:ext uri="{FF2B5EF4-FFF2-40B4-BE49-F238E27FC236}">
                <a16:creationId xmlns:a16="http://schemas.microsoft.com/office/drawing/2014/main" id="{EC7CB10D-0E8B-4BC8-9EF8-0E80A063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423491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70" name="F4-cell-71">
            <a:extLst xmlns:a="http://schemas.openxmlformats.org/drawingml/2006/main">
              <a:ext uri="{FF2B5EF4-FFF2-40B4-BE49-F238E27FC236}">
                <a16:creationId xmlns:a16="http://schemas.microsoft.com/office/drawing/2014/main" id="{0134E891-F590-4EB5-BB36-E0278869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3491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71" name="F4-cell-72">
            <a:extLst xmlns:a="http://schemas.openxmlformats.org/drawingml/2006/main">
              <a:ext uri="{FF2B5EF4-FFF2-40B4-BE49-F238E27FC236}">
                <a16:creationId xmlns:a16="http://schemas.microsoft.com/office/drawing/2014/main" id="{61192AF1-92C1-46C0-ACBF-AD6FB953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17" y="2423491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72" name="F4-cell-73">
            <a:extLst xmlns:a="http://schemas.openxmlformats.org/drawingml/2006/main">
              <a:ext uri="{FF2B5EF4-FFF2-40B4-BE49-F238E27FC236}">
                <a16:creationId xmlns:a16="http://schemas.microsoft.com/office/drawing/2014/main" id="{A01EAE25-D14C-49AB-AC6B-1F133B53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35" y="2423491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73" name="F4-cell-74">
            <a:extLst xmlns:a="http://schemas.openxmlformats.org/drawingml/2006/main">
              <a:ext uri="{FF2B5EF4-FFF2-40B4-BE49-F238E27FC236}">
                <a16:creationId xmlns:a16="http://schemas.microsoft.com/office/drawing/2014/main" id="{7D35EC38-C9F4-4E4E-9711-2C4F2A07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652" y="2423491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74" name="F4-cell-75">
            <a:extLst xmlns:a="http://schemas.openxmlformats.org/drawingml/2006/main">
              <a:ext uri="{FF2B5EF4-FFF2-40B4-BE49-F238E27FC236}">
                <a16:creationId xmlns:a16="http://schemas.microsoft.com/office/drawing/2014/main" id="{1744BA90-B93E-4968-8C7D-4FB10653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70" y="2423491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75" name="F4-cell-76">
            <a:extLst xmlns:a="http://schemas.openxmlformats.org/drawingml/2006/main">
              <a:ext uri="{FF2B5EF4-FFF2-40B4-BE49-F238E27FC236}">
                <a16:creationId xmlns:a16="http://schemas.microsoft.com/office/drawing/2014/main" id="{6614B211-07D2-48EF-A6D3-F9FD04E1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087" y="2423491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76" name="F4-cell-77">
            <a:extLst xmlns:a="http://schemas.openxmlformats.org/drawingml/2006/main">
              <a:ext uri="{FF2B5EF4-FFF2-40B4-BE49-F238E27FC236}">
                <a16:creationId xmlns:a16="http://schemas.microsoft.com/office/drawing/2014/main" id="{1ADD0410-74D0-47F6-9D2B-33149B9D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304" y="2423491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77" name="F4-cell-78">
            <a:extLst xmlns:a="http://schemas.openxmlformats.org/drawingml/2006/main">
              <a:ext uri="{FF2B5EF4-FFF2-40B4-BE49-F238E27FC236}">
                <a16:creationId xmlns:a16="http://schemas.microsoft.com/office/drawing/2014/main" id="{E9C05C9B-3A0C-4A63-94CB-58E6D1A0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522" y="2423491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78" name="F4-cell-79">
            <a:extLst xmlns:a="http://schemas.openxmlformats.org/drawingml/2006/main">
              <a:ext uri="{FF2B5EF4-FFF2-40B4-BE49-F238E27FC236}">
                <a16:creationId xmlns:a16="http://schemas.microsoft.com/office/drawing/2014/main" id="{80E3A97D-733B-4F46-B447-05BBC9AD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739" y="24234913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79" name="F4-cell-80">
            <a:extLst xmlns:a="http://schemas.openxmlformats.org/drawingml/2006/main">
              <a:ext uri="{FF2B5EF4-FFF2-40B4-BE49-F238E27FC236}">
                <a16:creationId xmlns:a16="http://schemas.microsoft.com/office/drawing/2014/main" id="{42AB590F-7E4A-4C3A-A221-620DA795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4417130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80" name="F4-cell-81">
            <a:extLst xmlns:a="http://schemas.openxmlformats.org/drawingml/2006/main">
              <a:ext uri="{FF2B5EF4-FFF2-40B4-BE49-F238E27FC236}">
                <a16:creationId xmlns:a16="http://schemas.microsoft.com/office/drawing/2014/main" id="{65049351-5E17-4C39-935E-33B720C4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17130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81" name="F4-cell-82">
            <a:extLst xmlns:a="http://schemas.openxmlformats.org/drawingml/2006/main">
              <a:ext uri="{FF2B5EF4-FFF2-40B4-BE49-F238E27FC236}">
                <a16:creationId xmlns:a16="http://schemas.microsoft.com/office/drawing/2014/main" id="{C5C98E61-33E0-41CC-805E-60ABD72B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17" y="24417130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82" name="F4-cell-83">
            <a:extLst xmlns:a="http://schemas.openxmlformats.org/drawingml/2006/main">
              <a:ext uri="{FF2B5EF4-FFF2-40B4-BE49-F238E27FC236}">
                <a16:creationId xmlns:a16="http://schemas.microsoft.com/office/drawing/2014/main" id="{F2114A60-6CB6-4F05-BB86-891AE629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35" y="24417130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83" name="F4-cell-84">
            <a:extLst xmlns:a="http://schemas.openxmlformats.org/drawingml/2006/main">
              <a:ext uri="{FF2B5EF4-FFF2-40B4-BE49-F238E27FC236}">
                <a16:creationId xmlns:a16="http://schemas.microsoft.com/office/drawing/2014/main" id="{20810B93-63D0-4FDD-B4A9-A2317F28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652" y="24417130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84" name="F4-cell-85">
            <a:extLst xmlns:a="http://schemas.openxmlformats.org/drawingml/2006/main">
              <a:ext uri="{FF2B5EF4-FFF2-40B4-BE49-F238E27FC236}">
                <a16:creationId xmlns:a16="http://schemas.microsoft.com/office/drawing/2014/main" id="{5C1E207C-BFEF-44D5-8F84-6747EF25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70" y="24417130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85" name="F4-cell-86">
            <a:extLst xmlns:a="http://schemas.openxmlformats.org/drawingml/2006/main">
              <a:ext uri="{FF2B5EF4-FFF2-40B4-BE49-F238E27FC236}">
                <a16:creationId xmlns:a16="http://schemas.microsoft.com/office/drawing/2014/main" id="{4616830D-3B80-4089-AF37-68CCBA19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087" y="24417130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86" name="F4-cell-87">
            <a:extLst xmlns:a="http://schemas.openxmlformats.org/drawingml/2006/main">
              <a:ext uri="{FF2B5EF4-FFF2-40B4-BE49-F238E27FC236}">
                <a16:creationId xmlns:a16="http://schemas.microsoft.com/office/drawing/2014/main" id="{CB2AD721-F824-403C-A06F-73AA35D6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304" y="24417130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87" name="F4-cell-88">
            <a:extLst xmlns:a="http://schemas.openxmlformats.org/drawingml/2006/main">
              <a:ext uri="{FF2B5EF4-FFF2-40B4-BE49-F238E27FC236}">
                <a16:creationId xmlns:a16="http://schemas.microsoft.com/office/drawing/2014/main" id="{7F3C4411-9CDA-42B3-9B90-6D6CBC8E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522" y="24417130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88" name="F4-cell-89">
            <a:extLst xmlns:a="http://schemas.openxmlformats.org/drawingml/2006/main">
              <a:ext uri="{FF2B5EF4-FFF2-40B4-BE49-F238E27FC236}">
                <a16:creationId xmlns:a16="http://schemas.microsoft.com/office/drawing/2014/main" id="{872B2070-7036-4E00-9F7E-C2D0F077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739" y="24417130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89" name="F4-cell-90">
            <a:extLst xmlns:a="http://schemas.openxmlformats.org/drawingml/2006/main">
              <a:ext uri="{FF2B5EF4-FFF2-40B4-BE49-F238E27FC236}">
                <a16:creationId xmlns:a16="http://schemas.microsoft.com/office/drawing/2014/main" id="{EC700C5D-1204-4EC5-B0ED-342AF5DA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459934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90" name="F4-cell-91">
            <a:extLst xmlns:a="http://schemas.openxmlformats.org/drawingml/2006/main">
              <a:ext uri="{FF2B5EF4-FFF2-40B4-BE49-F238E27FC236}">
                <a16:creationId xmlns:a16="http://schemas.microsoft.com/office/drawing/2014/main" id="{8D996548-12A8-4B03-814E-25DF9534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9934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91" name="F4-cell-92">
            <a:extLst xmlns:a="http://schemas.openxmlformats.org/drawingml/2006/main">
              <a:ext uri="{FF2B5EF4-FFF2-40B4-BE49-F238E27FC236}">
                <a16:creationId xmlns:a16="http://schemas.microsoft.com/office/drawing/2014/main" id="{FEE07238-C26F-4217-82B3-93A87F36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17" y="2459934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92" name="F4-cell-93">
            <a:extLst xmlns:a="http://schemas.openxmlformats.org/drawingml/2006/main">
              <a:ext uri="{FF2B5EF4-FFF2-40B4-BE49-F238E27FC236}">
                <a16:creationId xmlns:a16="http://schemas.microsoft.com/office/drawing/2014/main" id="{63F6F861-7455-4A51-9EDF-3E4E2548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35" y="2459934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93" name="F4-cell-94">
            <a:extLst xmlns:a="http://schemas.openxmlformats.org/drawingml/2006/main">
              <a:ext uri="{FF2B5EF4-FFF2-40B4-BE49-F238E27FC236}">
                <a16:creationId xmlns:a16="http://schemas.microsoft.com/office/drawing/2014/main" id="{4FE3CD92-D601-4164-8FC9-9E2DBABD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652" y="2459934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94" name="F4-cell-95">
            <a:extLst xmlns:a="http://schemas.openxmlformats.org/drawingml/2006/main">
              <a:ext uri="{FF2B5EF4-FFF2-40B4-BE49-F238E27FC236}">
                <a16:creationId xmlns:a16="http://schemas.microsoft.com/office/drawing/2014/main" id="{11FAB8C1-C7B9-4C38-AD25-922992BA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70" y="2459934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95" name="F4-cell-96">
            <a:extLst xmlns:a="http://schemas.openxmlformats.org/drawingml/2006/main">
              <a:ext uri="{FF2B5EF4-FFF2-40B4-BE49-F238E27FC236}">
                <a16:creationId xmlns:a16="http://schemas.microsoft.com/office/drawing/2014/main" id="{1AFE9774-0B02-45C3-A8F8-81CB3C82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087" y="2459934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96" name="F4-cell-97">
            <a:extLst xmlns:a="http://schemas.openxmlformats.org/drawingml/2006/main">
              <a:ext uri="{FF2B5EF4-FFF2-40B4-BE49-F238E27FC236}">
                <a16:creationId xmlns:a16="http://schemas.microsoft.com/office/drawing/2014/main" id="{3075F149-F29D-4056-B10B-5A59D960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304" y="2459934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97" name="F4-cell-98">
            <a:extLst xmlns:a="http://schemas.openxmlformats.org/drawingml/2006/main">
              <a:ext uri="{FF2B5EF4-FFF2-40B4-BE49-F238E27FC236}">
                <a16:creationId xmlns:a16="http://schemas.microsoft.com/office/drawing/2014/main" id="{E5DE4D12-EF78-4D96-B287-A05BC26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522" y="2459934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98" name="F4-cell-99">
            <a:extLst xmlns:a="http://schemas.openxmlformats.org/drawingml/2006/main">
              <a:ext uri="{FF2B5EF4-FFF2-40B4-BE49-F238E27FC236}">
                <a16:creationId xmlns:a16="http://schemas.microsoft.com/office/drawing/2014/main" id="{2E69063F-700E-41E2-AB3C-46DED819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739" y="24599348"/>
            <a:ext cx="132522" cy="132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CD0"/>
          </a:solidFill>
          <a:ln xmlns:a="http://schemas.openxmlformats.org/drawingml/2006/main" w="0">
            <a:noFill/>
          </a:ln>
        </p:spPr>
      </p:sp>
      <p:sp>
        <p:nvSpPr>
          <p:cNvPr id="199" name="text-198">
            <a:extLst xmlns:a="http://schemas.openxmlformats.org/drawingml/2006/main">
              <a:ext uri="{FF2B5EF4-FFF2-40B4-BE49-F238E27FC236}">
                <a16:creationId xmlns:a16="http://schemas.microsoft.com/office/drawing/2014/main" id="{A1A77998-AD25-4336-926E-02673D07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696" y="22988877"/>
            <a:ext cx="1267239" cy="805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96" b="1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4696" b="1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32%</a:t>
            </a:r>
          </a:p>
        </p:txBody>
      </p:sp>
      <p:sp>
        <p:nvSpPr>
          <p:cNvPr id="200" name="text-199">
            <a:extLst xmlns:a="http://schemas.openxmlformats.org/drawingml/2006/main">
              <a:ext uri="{FF2B5EF4-FFF2-40B4-BE49-F238E27FC236}">
                <a16:creationId xmlns:a16="http://schemas.microsoft.com/office/drawing/2014/main" id="{233A200A-7B38-4DF6-B946-E78DCAF9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696" y="23825255"/>
            <a:ext cx="513521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受访者称，企业因能用编码智能体自建，放弃了至少一项软</a:t>
            </a:r>
          </a:p>
        </p:txBody>
      </p:sp>
      <p:sp>
        <p:nvSpPr>
          <p:cNvPr id="201" name="text-200">
            <a:extLst xmlns:a="http://schemas.openxmlformats.org/drawingml/2006/main">
              <a:ext uri="{FF2B5EF4-FFF2-40B4-BE49-F238E27FC236}">
                <a16:creationId xmlns:a16="http://schemas.microsoft.com/office/drawing/2014/main" id="{4ADC4FD3-EBAD-4623-A0DF-BE54BAF9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696" y="24115147"/>
            <a:ext cx="513521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件产品或功能的采购。</a:t>
            </a:r>
          </a:p>
        </p:txBody>
      </p:sp>
      <p:sp>
        <p:nvSpPr>
          <p:cNvPr id="202" name="text-201">
            <a:extLst xmlns:a="http://schemas.openxmlformats.org/drawingml/2006/main">
              <a:ext uri="{FF2B5EF4-FFF2-40B4-BE49-F238E27FC236}">
                <a16:creationId xmlns:a16="http://schemas.microsoft.com/office/drawing/2014/main" id="{B1391179-B1F1-425B-9C46-9A15C77C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5010497"/>
            <a:ext cx="7371522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S1  ·  每格代表1个百分点；这不是软件市场份额，也不表示全部软件都能自建。</a:t>
            </a:r>
          </a:p>
        </p:txBody>
      </p:sp>
      <p:sp>
        <p:nvSpPr>
          <p:cNvPr id="203" name="line-202">
            <a:extLst xmlns:a="http://schemas.openxmlformats.org/drawingml/2006/main">
              <a:ext uri="{FF2B5EF4-FFF2-40B4-BE49-F238E27FC236}">
                <a16:creationId xmlns:a16="http://schemas.microsoft.com/office/drawing/2014/main" id="{31BE6B0F-835D-4B31-BA52-60015311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5758913"/>
            <a:ext cx="7321826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1C"/>
          </a:solidFill>
          <a:ln xmlns:a="http://schemas.openxmlformats.org/drawingml/2006/main" w="0">
            <a:noFill/>
          </a:ln>
        </p:spPr>
      </p:sp>
      <p:sp>
        <p:nvSpPr>
          <p:cNvPr id="204" name="text-203">
            <a:extLst xmlns:a="http://schemas.openxmlformats.org/drawingml/2006/main">
              <a:ext uri="{FF2B5EF4-FFF2-40B4-BE49-F238E27FC236}">
                <a16:creationId xmlns:a16="http://schemas.microsoft.com/office/drawing/2014/main" id="{99AF8853-C3F7-4BB1-A5D1-4C90B27C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5942456"/>
            <a:ext cx="480391" cy="469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9" b="1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2739" b="1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05" name="text-204">
            <a:extLst xmlns:a="http://schemas.openxmlformats.org/drawingml/2006/main">
              <a:ext uri="{FF2B5EF4-FFF2-40B4-BE49-F238E27FC236}">
                <a16:creationId xmlns:a16="http://schemas.microsoft.com/office/drawing/2014/main" id="{B5DFF363-DBC5-4345-B1AA-D386E731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696" y="25950738"/>
            <a:ext cx="4638261" cy="469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9" b="1">
                <a:solidFill>
                  <a:srgbClr val="171C1C"/>
                </a:solidFill>
                <a:latin typeface="Noto Serif SC"/>
                <a:ea typeface="Noto Serif SC"/>
                <a:cs typeface="Noto Serif SC"/>
              </a:defRPr>
            </a:pPr>
            <a:r>
              <a:rPr sz="2739" b="1">
                <a:solidFill>
                  <a:srgbClr val="171C1C"/>
                </a:solidFill>
                <a:latin typeface="Noto Serif SC"/>
                <a:ea typeface="Noto Serif SC"/>
                <a:cs typeface="Noto Serif SC"/>
              </a:rPr>
              <a:t>提效感受，要走到可核算回报</a:t>
            </a:r>
          </a:p>
        </p:txBody>
      </p:sp>
      <p:sp>
        <p:nvSpPr>
          <p:cNvPr id="206" name="text-205">
            <a:extLst xmlns:a="http://schemas.openxmlformats.org/drawingml/2006/main">
              <a:ext uri="{FF2B5EF4-FFF2-40B4-BE49-F238E27FC236}">
                <a16:creationId xmlns:a16="http://schemas.microsoft.com/office/drawing/2014/main" id="{7EAF36C4-D599-40FA-B90A-B700364F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696" y="26468236"/>
            <a:ext cx="3288196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问卷与实验  /  感受、利润与任务时间是不同指标</a:t>
            </a:r>
          </a:p>
        </p:txBody>
      </p:sp>
      <p:sp>
        <p:nvSpPr>
          <p:cNvPr id="207" name="text-206">
            <a:extLst xmlns:a="http://schemas.openxmlformats.org/drawingml/2006/main">
              <a:ext uri="{FF2B5EF4-FFF2-40B4-BE49-F238E27FC236}">
                <a16:creationId xmlns:a16="http://schemas.microsoft.com/office/drawing/2014/main" id="{A91CBEE5-9629-4F08-9321-982D08FD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6849236"/>
            <a:ext cx="339587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1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1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图5</a:t>
            </a:r>
          </a:p>
        </p:txBody>
      </p:sp>
      <p:sp>
        <p:nvSpPr>
          <p:cNvPr id="208" name="text-207">
            <a:extLst xmlns:a="http://schemas.openxmlformats.org/drawingml/2006/main">
              <a:ext uri="{FF2B5EF4-FFF2-40B4-BE49-F238E27FC236}">
                <a16:creationId xmlns:a16="http://schemas.microsoft.com/office/drawing/2014/main" id="{31FC079F-C75C-479E-A129-114147C2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3" y="26781650"/>
            <a:ext cx="3346174" cy="29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96" b="1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696" b="1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个人收益与企业利润并非同一问题</a:t>
            </a:r>
          </a:p>
        </p:txBody>
      </p:sp>
      <p:sp>
        <p:nvSpPr>
          <p:cNvPr id="209" name="text-208">
            <a:extLst xmlns:a="http://schemas.openxmlformats.org/drawingml/2006/main">
              <a:ext uri="{FF2B5EF4-FFF2-40B4-BE49-F238E27FC236}">
                <a16:creationId xmlns:a16="http://schemas.microsoft.com/office/drawing/2014/main" id="{73805733-6DA9-4D77-A5AD-E6F72D77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7494782"/>
            <a:ext cx="1333500" cy="23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37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个人生产力改善</a:t>
            </a:r>
          </a:p>
        </p:txBody>
      </p:sp>
      <p:sp>
        <p:nvSpPr>
          <p:cNvPr id="210" name="F5-0">
            <a:extLst xmlns:a="http://schemas.openxmlformats.org/drawingml/2006/main">
              <a:ext uri="{FF2B5EF4-FFF2-40B4-BE49-F238E27FC236}">
                <a16:creationId xmlns:a16="http://schemas.microsoft.com/office/drawing/2014/main" id="{F60DF44D-6A9C-4842-8C85-C2AF67DA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674" y="27432000"/>
            <a:ext cx="3544957" cy="2981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211" name="text-210">
            <a:extLst xmlns:a="http://schemas.openxmlformats.org/drawingml/2006/main">
              <a:ext uri="{FF2B5EF4-FFF2-40B4-BE49-F238E27FC236}">
                <a16:creationId xmlns:a16="http://schemas.microsoft.com/office/drawing/2014/main" id="{CF285262-5008-416C-8FA9-06074AEC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22" y="27469272"/>
            <a:ext cx="513522" cy="27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0" b="1">
                <a:solidFill>
                  <a:srgbClr val="1F5260"/>
                </a:solidFill>
                <a:latin typeface="Noto Sans SC"/>
                <a:ea typeface="Noto Sans SC"/>
                <a:cs typeface="Noto Sans SC"/>
              </a:defRPr>
            </a:pPr>
            <a:r>
              <a:rPr sz="1630" b="1">
                <a:solidFill>
                  <a:srgbClr val="1F5260"/>
                </a:solidFill>
                <a:latin typeface="Noto Sans SC"/>
                <a:ea typeface="Noto Sans SC"/>
                <a:cs typeface="Noto Sans SC"/>
              </a:rPr>
              <a:t>80%</a:t>
            </a:r>
          </a:p>
        </p:txBody>
      </p:sp>
      <p:sp>
        <p:nvSpPr>
          <p:cNvPr id="212" name="text-211">
            <a:extLst xmlns:a="http://schemas.openxmlformats.org/drawingml/2006/main">
              <a:ext uri="{FF2B5EF4-FFF2-40B4-BE49-F238E27FC236}">
                <a16:creationId xmlns:a16="http://schemas.microsoft.com/office/drawing/2014/main" id="{9B13AAF8-9C59-44B7-8946-B2F029DE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8074565"/>
            <a:ext cx="811696" cy="23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37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决策改善</a:t>
            </a:r>
          </a:p>
        </p:txBody>
      </p:sp>
      <p:sp>
        <p:nvSpPr>
          <p:cNvPr id="213" name="F5-1">
            <a:extLst xmlns:a="http://schemas.openxmlformats.org/drawingml/2006/main">
              <a:ext uri="{FF2B5EF4-FFF2-40B4-BE49-F238E27FC236}">
                <a16:creationId xmlns:a16="http://schemas.microsoft.com/office/drawing/2014/main" id="{43CA51F3-9EF1-459C-9CBE-D5A28102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674" y="28011783"/>
            <a:ext cx="2215598" cy="2981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214" name="text-213">
            <a:extLst xmlns:a="http://schemas.openxmlformats.org/drawingml/2006/main">
              <a:ext uri="{FF2B5EF4-FFF2-40B4-BE49-F238E27FC236}">
                <a16:creationId xmlns:a16="http://schemas.microsoft.com/office/drawing/2014/main" id="{6BB20524-50CD-4EA6-978F-49D44521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9663" y="28049054"/>
            <a:ext cx="513522" cy="27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0" b="1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630" b="1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50%</a:t>
            </a:r>
          </a:p>
        </p:txBody>
      </p:sp>
      <p:sp>
        <p:nvSpPr>
          <p:cNvPr id="215" name="text-214">
            <a:extLst xmlns:a="http://schemas.openxmlformats.org/drawingml/2006/main">
              <a:ext uri="{FF2B5EF4-FFF2-40B4-BE49-F238E27FC236}">
                <a16:creationId xmlns:a16="http://schemas.microsoft.com/office/drawing/2014/main" id="{D13489DB-C0F5-4871-B928-54E109A2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8654347"/>
            <a:ext cx="1855304" cy="23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370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企业层面EBIT正向影响</a:t>
            </a:r>
          </a:p>
        </p:txBody>
      </p:sp>
      <p:sp>
        <p:nvSpPr>
          <p:cNvPr id="216" name="F5-2">
            <a:extLst xmlns:a="http://schemas.openxmlformats.org/drawingml/2006/main">
              <a:ext uri="{FF2B5EF4-FFF2-40B4-BE49-F238E27FC236}">
                <a16:creationId xmlns:a16="http://schemas.microsoft.com/office/drawing/2014/main" id="{F4218911-B22C-425F-BC78-A79B5481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674" y="28591565"/>
            <a:ext cx="1639542" cy="2981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17" name="text-216">
            <a:extLst xmlns:a="http://schemas.openxmlformats.org/drawingml/2006/main">
              <a:ext uri="{FF2B5EF4-FFF2-40B4-BE49-F238E27FC236}">
                <a16:creationId xmlns:a16="http://schemas.microsoft.com/office/drawing/2014/main" id="{E04DAA30-A07F-4D7D-863A-A9D97D2C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608" y="28628837"/>
            <a:ext cx="513522" cy="27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0" b="1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1630" b="1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37%</a:t>
            </a:r>
          </a:p>
        </p:txBody>
      </p:sp>
      <p:sp>
        <p:nvSpPr>
          <p:cNvPr id="218" name="text-217">
            <a:extLst xmlns:a="http://schemas.openxmlformats.org/drawingml/2006/main">
              <a:ext uri="{FF2B5EF4-FFF2-40B4-BE49-F238E27FC236}">
                <a16:creationId xmlns:a16="http://schemas.microsoft.com/office/drawing/2014/main" id="{5805CC31-CA1B-4F11-94BF-45706B22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9292605"/>
            <a:ext cx="7371522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S1  ·  不同问题的肯定回应占比，不能加总或视为转化漏斗。EBIT为息税前利润。</a:t>
            </a:r>
          </a:p>
        </p:txBody>
      </p:sp>
      <p:sp>
        <p:nvSpPr>
          <p:cNvPr id="219" name="text-218">
            <a:extLst xmlns:a="http://schemas.openxmlformats.org/drawingml/2006/main">
              <a:ext uri="{FF2B5EF4-FFF2-40B4-BE49-F238E27FC236}">
                <a16:creationId xmlns:a16="http://schemas.microsoft.com/office/drawing/2014/main" id="{CD2184C5-3E0C-4EA2-BA4A-C9521BE2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29863111"/>
            <a:ext cx="7371522" cy="26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受访者的提效感受，不能直接换算成企业利润。要判断一个具体流程是否值得采用</a:t>
            </a:r>
          </a:p>
        </p:txBody>
      </p:sp>
      <p:sp>
        <p:nvSpPr>
          <p:cNvPr id="220" name="text-219">
            <a:extLst xmlns:a="http://schemas.openxmlformats.org/drawingml/2006/main">
              <a:ext uri="{FF2B5EF4-FFF2-40B4-BE49-F238E27FC236}">
                <a16:creationId xmlns:a16="http://schemas.microsoft.com/office/drawing/2014/main" id="{D1C23F7D-CDF1-4CE4-A0B2-D2ED2373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0161285"/>
            <a:ext cx="7371522" cy="26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AI，还需要记录返工、人工检查与实际耗时。</a:t>
            </a:r>
          </a:p>
        </p:txBody>
      </p:sp>
      <p:sp>
        <p:nvSpPr>
          <p:cNvPr id="221" name="text-220">
            <a:extLst xmlns:a="http://schemas.openxmlformats.org/drawingml/2006/main">
              <a:ext uri="{FF2B5EF4-FFF2-40B4-BE49-F238E27FC236}">
                <a16:creationId xmlns:a16="http://schemas.microsoft.com/office/drawing/2014/main" id="{345E0D3D-47EF-4549-BBC1-2F24C8A4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1073366"/>
            <a:ext cx="339587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1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1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图6</a:t>
            </a:r>
          </a:p>
        </p:txBody>
      </p:sp>
      <p:sp>
        <p:nvSpPr>
          <p:cNvPr id="222" name="text-221">
            <a:extLst xmlns:a="http://schemas.openxmlformats.org/drawingml/2006/main">
              <a:ext uri="{FF2B5EF4-FFF2-40B4-BE49-F238E27FC236}">
                <a16:creationId xmlns:a16="http://schemas.microsoft.com/office/drawing/2014/main" id="{ED8F8AB5-FAE5-4ED1-91EA-7572124C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3" y="31005780"/>
            <a:ext cx="3346174" cy="29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96" b="1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696" b="1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真实任务实验，结果也有不确定性</a:t>
            </a:r>
          </a:p>
        </p:txBody>
      </p:sp>
      <p:sp>
        <p:nvSpPr>
          <p:cNvPr id="223" name="text-222">
            <a:extLst xmlns:a="http://schemas.openxmlformats.org/drawingml/2006/main">
              <a:ext uri="{FF2B5EF4-FFF2-40B4-BE49-F238E27FC236}">
                <a16:creationId xmlns:a16="http://schemas.microsoft.com/office/drawing/2014/main" id="{F0DFC98C-8F29-4C62-902B-F6C96F30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1388105"/>
            <a:ext cx="4273826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完成任务耗时变化（%），负值代表更快；线段为95%置信区间</a:t>
            </a:r>
          </a:p>
        </p:txBody>
      </p:sp>
      <p:sp>
        <p:nvSpPr>
          <p:cNvPr id="224" name="line-223">
            <a:extLst xmlns:a="http://schemas.openxmlformats.org/drawingml/2006/main">
              <a:ext uri="{FF2B5EF4-FFF2-40B4-BE49-F238E27FC236}">
                <a16:creationId xmlns:a16="http://schemas.microsoft.com/office/drawing/2014/main" id="{17A16AB5-CBE2-47E3-B866-C85E9E16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609" y="31805217"/>
            <a:ext cx="12424" cy="2136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225" name="text-224">
            <a:extLst xmlns:a="http://schemas.openxmlformats.org/drawingml/2006/main">
              <a:ext uri="{FF2B5EF4-FFF2-40B4-BE49-F238E27FC236}">
                <a16:creationId xmlns:a16="http://schemas.microsoft.com/office/drawing/2014/main" id="{A4DBA794-AF36-4389-B90C-75279439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1884565"/>
            <a:ext cx="828261" cy="23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1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370" b="1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2025初期</a:t>
            </a:r>
          </a:p>
        </p:txBody>
      </p:sp>
      <p:sp>
        <p:nvSpPr>
          <p:cNvPr id="226" name="text-225">
            <a:extLst xmlns:a="http://schemas.openxmlformats.org/drawingml/2006/main">
              <a:ext uri="{FF2B5EF4-FFF2-40B4-BE49-F238E27FC236}">
                <a16:creationId xmlns:a16="http://schemas.microsoft.com/office/drawing/2014/main" id="{33AAB685-BDBB-4002-A488-38C39F89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2158388"/>
            <a:ext cx="712304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原始样本</a:t>
            </a:r>
          </a:p>
        </p:txBody>
      </p:sp>
      <p:sp>
        <p:nvSpPr>
          <p:cNvPr id="227" name="line-226">
            <a:extLst xmlns:a="http://schemas.openxmlformats.org/drawingml/2006/main">
              <a:ext uri="{FF2B5EF4-FFF2-40B4-BE49-F238E27FC236}">
                <a16:creationId xmlns:a16="http://schemas.microsoft.com/office/drawing/2014/main" id="{9882DC76-102C-4DB6-AB75-A8AD8ABA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565" y="32103391"/>
            <a:ext cx="2145196" cy="33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28" name="line-227">
            <a:extLst xmlns:a="http://schemas.openxmlformats.org/drawingml/2006/main">
              <a:ext uri="{FF2B5EF4-FFF2-40B4-BE49-F238E27FC236}">
                <a16:creationId xmlns:a16="http://schemas.microsoft.com/office/drawing/2014/main" id="{532C30FB-4E21-457F-A639-250DF170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565" y="32028848"/>
            <a:ext cx="16565" cy="1490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29" name="line-228">
            <a:extLst xmlns:a="http://schemas.openxmlformats.org/drawingml/2006/main">
              <a:ext uri="{FF2B5EF4-FFF2-40B4-BE49-F238E27FC236}">
                <a16:creationId xmlns:a16="http://schemas.microsoft.com/office/drawing/2014/main" id="{7BC0D230-C77A-4B7E-8F54-878245B9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5761" y="32028848"/>
            <a:ext cx="16565" cy="1490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30" name="F6-point-0">
            <a:extLst xmlns:a="http://schemas.openxmlformats.org/drawingml/2006/main">
              <a:ext uri="{FF2B5EF4-FFF2-40B4-BE49-F238E27FC236}">
                <a16:creationId xmlns:a16="http://schemas.microsoft.com/office/drawing/2014/main" id="{1AC60160-F354-470C-B559-4B7AF431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53696"/>
            <a:ext cx="99391" cy="993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31" name="text-230">
            <a:extLst xmlns:a="http://schemas.openxmlformats.org/drawingml/2006/main">
              <a:ext uri="{FF2B5EF4-FFF2-40B4-BE49-F238E27FC236}">
                <a16:creationId xmlns:a16="http://schemas.microsoft.com/office/drawing/2014/main" id="{573BBB45-6B0F-4E7B-89C9-BC7D7211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478" y="32299192"/>
            <a:ext cx="1051891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+19% [+2, +39]</a:t>
            </a:r>
          </a:p>
        </p:txBody>
      </p:sp>
      <p:sp>
        <p:nvSpPr>
          <p:cNvPr id="232" name="text-231">
            <a:extLst xmlns:a="http://schemas.openxmlformats.org/drawingml/2006/main">
              <a:ext uri="{FF2B5EF4-FFF2-40B4-BE49-F238E27FC236}">
                <a16:creationId xmlns:a16="http://schemas.microsoft.com/office/drawing/2014/main" id="{CC576424-0A51-4615-B7E3-ADC8E683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2605152"/>
            <a:ext cx="828261" cy="23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1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370" b="1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2025后期</a:t>
            </a:r>
          </a:p>
        </p:txBody>
      </p:sp>
      <p:sp>
        <p:nvSpPr>
          <p:cNvPr id="233" name="text-232">
            <a:extLst xmlns:a="http://schemas.openxmlformats.org/drawingml/2006/main">
              <a:ext uri="{FF2B5EF4-FFF2-40B4-BE49-F238E27FC236}">
                <a16:creationId xmlns:a16="http://schemas.microsoft.com/office/drawing/2014/main" id="{9C74C8F0-09FC-4DBA-B8E5-56FA3EC4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2878975"/>
            <a:ext cx="861391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原样本回访</a:t>
            </a:r>
          </a:p>
        </p:txBody>
      </p:sp>
      <p:sp>
        <p:nvSpPr>
          <p:cNvPr id="234" name="line-233">
            <a:extLst xmlns:a="http://schemas.openxmlformats.org/drawingml/2006/main">
              <a:ext uri="{FF2B5EF4-FFF2-40B4-BE49-F238E27FC236}">
                <a16:creationId xmlns:a16="http://schemas.microsoft.com/office/drawing/2014/main" id="{8083397E-3A67-447D-A7EB-1BC8A899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1435" y="32823978"/>
            <a:ext cx="2724978" cy="33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235" name="line-234">
            <a:extLst xmlns:a="http://schemas.openxmlformats.org/drawingml/2006/main">
              <a:ext uri="{FF2B5EF4-FFF2-40B4-BE49-F238E27FC236}">
                <a16:creationId xmlns:a16="http://schemas.microsoft.com/office/drawing/2014/main" id="{0D01E393-9D08-43D1-8352-0CFD2FB2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1435" y="32749435"/>
            <a:ext cx="16565" cy="1490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236" name="line-235">
            <a:extLst xmlns:a="http://schemas.openxmlformats.org/drawingml/2006/main">
              <a:ext uri="{FF2B5EF4-FFF2-40B4-BE49-F238E27FC236}">
                <a16:creationId xmlns:a16="http://schemas.microsoft.com/office/drawing/2014/main" id="{2471A3B4-C1BC-4C88-8824-807DE360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413" y="32749435"/>
            <a:ext cx="16565" cy="1490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237" name="F6-point-1">
            <a:extLst xmlns:a="http://schemas.openxmlformats.org/drawingml/2006/main">
              <a:ext uri="{FF2B5EF4-FFF2-40B4-BE49-F238E27FC236}">
                <a16:creationId xmlns:a16="http://schemas.microsoft.com/office/drawing/2014/main" id="{8C3C78A2-EF7B-476E-AD6C-9BB253DC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304" y="32774283"/>
            <a:ext cx="99391" cy="993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238" name="text-237">
            <a:extLst xmlns:a="http://schemas.openxmlformats.org/drawingml/2006/main">
              <a:ext uri="{FF2B5EF4-FFF2-40B4-BE49-F238E27FC236}">
                <a16:creationId xmlns:a16="http://schemas.microsoft.com/office/drawing/2014/main" id="{6912658C-9F65-49CF-926E-CD3A0C11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478" y="33019779"/>
            <a:ext cx="1002196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1F5260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1F5260"/>
                </a:solidFill>
                <a:latin typeface="Noto Sans SC"/>
                <a:ea typeface="Noto Sans SC"/>
                <a:cs typeface="Noto Sans SC"/>
              </a:rPr>
              <a:t>-18% [-38, +9]</a:t>
            </a:r>
          </a:p>
        </p:txBody>
      </p:sp>
      <p:sp>
        <p:nvSpPr>
          <p:cNvPr id="239" name="text-238">
            <a:extLst xmlns:a="http://schemas.openxmlformats.org/drawingml/2006/main">
              <a:ext uri="{FF2B5EF4-FFF2-40B4-BE49-F238E27FC236}">
                <a16:creationId xmlns:a16="http://schemas.microsoft.com/office/drawing/2014/main" id="{9EA84C30-D35D-429B-8109-5122573C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3325739"/>
            <a:ext cx="828261" cy="23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1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370" b="1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2025后期</a:t>
            </a:r>
          </a:p>
        </p:txBody>
      </p:sp>
      <p:sp>
        <p:nvSpPr>
          <p:cNvPr id="240" name="text-239">
            <a:extLst xmlns:a="http://schemas.openxmlformats.org/drawingml/2006/main">
              <a:ext uri="{FF2B5EF4-FFF2-40B4-BE49-F238E27FC236}">
                <a16:creationId xmlns:a16="http://schemas.microsoft.com/office/drawing/2014/main" id="{71B457DA-4E2B-4E32-B0CA-15ADD9C0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3599562"/>
            <a:ext cx="861391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新招募样本</a:t>
            </a:r>
          </a:p>
        </p:txBody>
      </p:sp>
      <p:sp>
        <p:nvSpPr>
          <p:cNvPr id="241" name="line-240">
            <a:extLst xmlns:a="http://schemas.openxmlformats.org/drawingml/2006/main">
              <a:ext uri="{FF2B5EF4-FFF2-40B4-BE49-F238E27FC236}">
                <a16:creationId xmlns:a16="http://schemas.microsoft.com/office/drawing/2014/main" id="{559349C6-611E-42CF-824B-CCE53F9E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935" y="33544565"/>
            <a:ext cx="1391478" cy="33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242" name="line-241">
            <a:extLst xmlns:a="http://schemas.openxmlformats.org/drawingml/2006/main">
              <a:ext uri="{FF2B5EF4-FFF2-40B4-BE49-F238E27FC236}">
                <a16:creationId xmlns:a16="http://schemas.microsoft.com/office/drawing/2014/main" id="{E594A872-C9AD-4422-B3BE-3254FEF0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935" y="33470022"/>
            <a:ext cx="16565" cy="1490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243" name="line-242">
            <a:extLst xmlns:a="http://schemas.openxmlformats.org/drawingml/2006/main">
              <a:ext uri="{FF2B5EF4-FFF2-40B4-BE49-F238E27FC236}">
                <a16:creationId xmlns:a16="http://schemas.microsoft.com/office/drawing/2014/main" id="{97C9E866-6730-481A-9693-E6AD84AD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413" y="33470022"/>
            <a:ext cx="16565" cy="1490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244" name="F6-point-2">
            <a:extLst xmlns:a="http://schemas.openxmlformats.org/drawingml/2006/main">
              <a:ext uri="{FF2B5EF4-FFF2-40B4-BE49-F238E27FC236}">
                <a16:creationId xmlns:a16="http://schemas.microsoft.com/office/drawing/2014/main" id="{EEE3ED84-1A31-4AAA-9519-8FED1002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494870"/>
            <a:ext cx="99391" cy="993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245" name="text-244">
            <a:extLst xmlns:a="http://schemas.openxmlformats.org/drawingml/2006/main">
              <a:ext uri="{FF2B5EF4-FFF2-40B4-BE49-F238E27FC236}">
                <a16:creationId xmlns:a16="http://schemas.microsoft.com/office/drawing/2014/main" id="{21314D37-3ED3-48A9-B944-B8ECDACE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478" y="33740366"/>
            <a:ext cx="927652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1F5260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1F5260"/>
                </a:solidFill>
                <a:latin typeface="Noto Sans SC"/>
                <a:ea typeface="Noto Sans SC"/>
                <a:cs typeface="Noto Sans SC"/>
              </a:rPr>
              <a:t>-4% [-15, +9]</a:t>
            </a:r>
          </a:p>
        </p:txBody>
      </p:sp>
      <p:sp>
        <p:nvSpPr>
          <p:cNvPr id="246" name="line-245">
            <a:extLst xmlns:a="http://schemas.openxmlformats.org/drawingml/2006/main">
              <a:ext uri="{FF2B5EF4-FFF2-40B4-BE49-F238E27FC236}">
                <a16:creationId xmlns:a16="http://schemas.microsoft.com/office/drawing/2014/main" id="{6E4CB6D7-651E-440C-9C45-21EE860A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478" y="34331413"/>
            <a:ext cx="4638261" cy="82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247" name="text-246">
            <a:extLst xmlns:a="http://schemas.openxmlformats.org/drawingml/2006/main">
              <a:ext uri="{FF2B5EF4-FFF2-40B4-BE49-F238E27FC236}">
                <a16:creationId xmlns:a16="http://schemas.microsoft.com/office/drawing/2014/main" id="{2E72F425-C6C0-4356-8DBD-3F2A30E6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239" y="34436271"/>
            <a:ext cx="314739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-40</a:t>
            </a:r>
          </a:p>
        </p:txBody>
      </p:sp>
      <p:sp>
        <p:nvSpPr>
          <p:cNvPr id="248" name="text-247">
            <a:extLst xmlns:a="http://schemas.openxmlformats.org/drawingml/2006/main">
              <a:ext uri="{FF2B5EF4-FFF2-40B4-BE49-F238E27FC236}">
                <a16:creationId xmlns:a16="http://schemas.microsoft.com/office/drawing/2014/main" id="{0FE32D51-B6D0-49B1-8CA8-38052C04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804" y="34436271"/>
            <a:ext cx="314739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-20</a:t>
            </a:r>
          </a:p>
        </p:txBody>
      </p:sp>
      <p:sp>
        <p:nvSpPr>
          <p:cNvPr id="249" name="text-248">
            <a:extLst xmlns:a="http://schemas.openxmlformats.org/drawingml/2006/main">
              <a:ext uri="{FF2B5EF4-FFF2-40B4-BE49-F238E27FC236}">
                <a16:creationId xmlns:a16="http://schemas.microsoft.com/office/drawing/2014/main" id="{B44E6D54-D637-4E21-8697-6ED14A55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370" y="34436271"/>
            <a:ext cx="190500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0</a:t>
            </a:r>
          </a:p>
        </p:txBody>
      </p:sp>
      <p:sp>
        <p:nvSpPr>
          <p:cNvPr id="250" name="text-249">
            <a:extLst xmlns:a="http://schemas.openxmlformats.org/drawingml/2006/main">
              <a:ext uri="{FF2B5EF4-FFF2-40B4-BE49-F238E27FC236}">
                <a16:creationId xmlns:a16="http://schemas.microsoft.com/office/drawing/2014/main" id="{598648C8-E555-4009-8D35-0A84A0CA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935" y="34436271"/>
            <a:ext cx="339587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+20</a:t>
            </a:r>
          </a:p>
        </p:txBody>
      </p:sp>
      <p:sp>
        <p:nvSpPr>
          <p:cNvPr id="251" name="text-250">
            <a:extLst xmlns:a="http://schemas.openxmlformats.org/drawingml/2006/main">
              <a:ext uri="{FF2B5EF4-FFF2-40B4-BE49-F238E27FC236}">
                <a16:creationId xmlns:a16="http://schemas.microsoft.com/office/drawing/2014/main" id="{C6A68077-B571-4C67-84F1-1F0E92B1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436271"/>
            <a:ext cx="339587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+40</a:t>
            </a:r>
          </a:p>
        </p:txBody>
      </p:sp>
      <p:sp>
        <p:nvSpPr>
          <p:cNvPr id="252" name="text-251">
            <a:extLst xmlns:a="http://schemas.openxmlformats.org/drawingml/2006/main">
              <a:ext uri="{FF2B5EF4-FFF2-40B4-BE49-F238E27FC236}">
                <a16:creationId xmlns:a16="http://schemas.microsoft.com/office/drawing/2014/main" id="{9512ECD9-DE2D-4E33-867A-578C4695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478" y="34800374"/>
            <a:ext cx="935935" cy="212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9" b="0">
                <a:solidFill>
                  <a:srgbClr val="1F5260"/>
                </a:solidFill>
                <a:latin typeface="Noto Sans SC"/>
                <a:ea typeface="Noto Sans SC"/>
                <a:cs typeface="Noto Sans SC"/>
              </a:defRPr>
            </a:pPr>
            <a:r>
              <a:rPr sz="1239" b="0">
                <a:solidFill>
                  <a:srgbClr val="1F5260"/>
                </a:solidFill>
                <a:latin typeface="Noto Sans SC"/>
                <a:ea typeface="Noto Sans SC"/>
                <a:cs typeface="Noto Sans SC"/>
              </a:rPr>
              <a:t>时间减少 ←</a:t>
            </a:r>
          </a:p>
        </p:txBody>
      </p:sp>
      <p:sp>
        <p:nvSpPr>
          <p:cNvPr id="253" name="text-252">
            <a:extLst xmlns:a="http://schemas.openxmlformats.org/drawingml/2006/main">
              <a:ext uri="{FF2B5EF4-FFF2-40B4-BE49-F238E27FC236}">
                <a16:creationId xmlns:a16="http://schemas.microsoft.com/office/drawing/2014/main" id="{80AF2E5C-61B4-45DD-B1A1-B74E922A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109" y="34800374"/>
            <a:ext cx="935935" cy="212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9" b="0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1239" b="0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→ 时间增加</a:t>
            </a:r>
          </a:p>
        </p:txBody>
      </p:sp>
      <p:sp>
        <p:nvSpPr>
          <p:cNvPr id="254" name="text-253">
            <a:extLst xmlns:a="http://schemas.openxmlformats.org/drawingml/2006/main">
              <a:ext uri="{FF2B5EF4-FFF2-40B4-BE49-F238E27FC236}">
                <a16:creationId xmlns:a16="http://schemas.microsoft.com/office/drawing/2014/main" id="{54EC619E-018F-43CF-BE71-B947E17C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5214670"/>
            <a:ext cx="7371522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S3  ·  METR，2026.02更新。后期样本有选择偏差，作者认为难以可靠估计当前提速；后期两组区间均跨零。</a:t>
            </a:r>
          </a:p>
        </p:txBody>
      </p:sp>
      <p:sp>
        <p:nvSpPr>
          <p:cNvPr id="255" name="line-254">
            <a:extLst xmlns:a="http://schemas.openxmlformats.org/drawingml/2006/main">
              <a:ext uri="{FF2B5EF4-FFF2-40B4-BE49-F238E27FC236}">
                <a16:creationId xmlns:a16="http://schemas.microsoft.com/office/drawing/2014/main" id="{025E64B7-3978-444D-A897-3232ADE2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6195000"/>
            <a:ext cx="7321826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1C"/>
          </a:solidFill>
          <a:ln xmlns:a="http://schemas.openxmlformats.org/drawingml/2006/main" w="0">
            <a:noFill/>
          </a:ln>
        </p:spPr>
      </p:sp>
      <p:sp>
        <p:nvSpPr>
          <p:cNvPr id="256" name="text-255">
            <a:extLst xmlns:a="http://schemas.openxmlformats.org/drawingml/2006/main">
              <a:ext uri="{FF2B5EF4-FFF2-40B4-BE49-F238E27FC236}">
                <a16:creationId xmlns:a16="http://schemas.microsoft.com/office/drawing/2014/main" id="{69095254-F404-4FF2-80A3-0990D3F8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6378543"/>
            <a:ext cx="480391" cy="469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9" b="1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2739" b="1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57" name="text-256">
            <a:extLst xmlns:a="http://schemas.openxmlformats.org/drawingml/2006/main">
              <a:ext uri="{FF2B5EF4-FFF2-40B4-BE49-F238E27FC236}">
                <a16:creationId xmlns:a16="http://schemas.microsoft.com/office/drawing/2014/main" id="{D8FA1072-5F20-4370-8E0F-42EF78D3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696" y="36386825"/>
            <a:ext cx="4638261" cy="469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9" b="1">
                <a:solidFill>
                  <a:srgbClr val="171C1C"/>
                </a:solidFill>
                <a:latin typeface="Noto Serif SC"/>
                <a:ea typeface="Noto Serif SC"/>
                <a:cs typeface="Noto Serif SC"/>
              </a:defRPr>
            </a:pPr>
            <a:r>
              <a:rPr sz="2739" b="1">
                <a:solidFill>
                  <a:srgbClr val="171C1C"/>
                </a:solidFill>
                <a:latin typeface="Noto Serif SC"/>
                <a:ea typeface="Noto Serif SC"/>
                <a:cs typeface="Noto Serif SC"/>
              </a:rPr>
              <a:t>屏幕背后，有物理世界的账单</a:t>
            </a:r>
          </a:p>
        </p:txBody>
      </p:sp>
      <p:sp>
        <p:nvSpPr>
          <p:cNvPr id="258" name="text-257">
            <a:extLst xmlns:a="http://schemas.openxmlformats.org/drawingml/2006/main">
              <a:ext uri="{FF2B5EF4-FFF2-40B4-BE49-F238E27FC236}">
                <a16:creationId xmlns:a16="http://schemas.microsoft.com/office/drawing/2014/main" id="{37D306B4-42B0-4924-A8C2-8376585B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696" y="36904323"/>
            <a:ext cx="1706217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能源  /  IEA，2026年报告</a:t>
            </a:r>
          </a:p>
        </p:txBody>
      </p:sp>
      <p:sp>
        <p:nvSpPr>
          <p:cNvPr id="259" name="text-258">
            <a:extLst xmlns:a="http://schemas.openxmlformats.org/drawingml/2006/main">
              <a:ext uri="{FF2B5EF4-FFF2-40B4-BE49-F238E27FC236}">
                <a16:creationId xmlns:a16="http://schemas.microsoft.com/office/drawing/2014/main" id="{14C7FAA1-E23D-4BFF-AAFD-1CA2BF17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7234633"/>
            <a:ext cx="4969565" cy="26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当使用规模上升，算力、供电与运行成本会进入同一本</a:t>
            </a:r>
          </a:p>
        </p:txBody>
      </p:sp>
      <p:sp>
        <p:nvSpPr>
          <p:cNvPr id="260" name="text-259">
            <a:extLst xmlns:a="http://schemas.openxmlformats.org/drawingml/2006/main">
              <a:ext uri="{FF2B5EF4-FFF2-40B4-BE49-F238E27FC236}">
                <a16:creationId xmlns:a16="http://schemas.microsoft.com/office/drawing/2014/main" id="{C7B02F7F-8CD0-496D-A7D6-6D5069C5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7532807"/>
            <a:ext cx="4969565" cy="26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账。数据中心总用电正在增长，AI专用数据中心的增速</a:t>
            </a:r>
          </a:p>
        </p:txBody>
      </p: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0DD75FB6-91EE-4B1F-8D71-0889E84B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7830981"/>
            <a:ext cx="4969565" cy="26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更快。</a:t>
            </a:r>
          </a:p>
        </p:txBody>
      </p:sp>
      <p:pic>
        <p:nvPicPr>
          <p:cNvPr id="6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6335238ab44c2"/>
          <a:stretch xmlns:a="http://schemas.openxmlformats.org/drawingml/2006/main"/>
        </p:blipFill>
        <p:spPr>
          <a:xfrm xmlns:a="http://schemas.openxmlformats.org/drawingml/2006/main">
            <a:off x="5830957" y="37066054"/>
            <a:ext cx="2070652" cy="1380435"/>
          </a:xfrm>
          <a:prstGeom xmlns:a="http://schemas.openxmlformats.org/drawingml/2006/main" prst="rect">
            <a:avLst/>
          </a:prstGeom>
        </p:spPr>
      </p:pic>
      <p:sp>
        <p:nvSpPr>
          <p:cNvPr id="263" name="text-262">
            <a:extLst xmlns:a="http://schemas.openxmlformats.org/drawingml/2006/main">
              <a:ext uri="{FF2B5EF4-FFF2-40B4-BE49-F238E27FC236}">
                <a16:creationId xmlns:a16="http://schemas.microsoft.com/office/drawing/2014/main" id="{8869DAB0-DDB7-4844-899E-E6B13DE6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8693366"/>
            <a:ext cx="339587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1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1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图7</a:t>
            </a:r>
          </a:p>
        </p:txBody>
      </p:sp>
      <p:sp>
        <p:nvSpPr>
          <p:cNvPr id="264" name="text-263">
            <a:extLst xmlns:a="http://schemas.openxmlformats.org/drawingml/2006/main">
              <a:ext uri="{FF2B5EF4-FFF2-40B4-BE49-F238E27FC236}">
                <a16:creationId xmlns:a16="http://schemas.microsoft.com/office/drawing/2014/main" id="{A3669712-F4AC-40EA-B75D-A0C003B6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3" y="38625780"/>
            <a:ext cx="2915478" cy="29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96" b="1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696" b="1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数据中心用电，预计接近翻倍</a:t>
            </a:r>
          </a:p>
        </p:txBody>
      </p:sp>
      <p:sp>
        <p:nvSpPr>
          <p:cNvPr id="265" name="text-264">
            <a:extLst xmlns:a="http://schemas.openxmlformats.org/drawingml/2006/main">
              <a:ext uri="{FF2B5EF4-FFF2-40B4-BE49-F238E27FC236}">
                <a16:creationId xmlns:a16="http://schemas.microsoft.com/office/drawing/2014/main" id="{509EBBDB-C7EF-4261-9AF0-DCDA7B36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8999823"/>
            <a:ext cx="2062370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全球数据中心年用电（TWh）</a:t>
            </a:r>
          </a:p>
        </p:txBody>
      </p:sp>
      <p:sp>
        <p:nvSpPr>
          <p:cNvPr id="266" name="text-265">
            <a:extLst xmlns:a="http://schemas.openxmlformats.org/drawingml/2006/main">
              <a:ext uri="{FF2B5EF4-FFF2-40B4-BE49-F238E27FC236}">
                <a16:creationId xmlns:a16="http://schemas.microsoft.com/office/drawing/2014/main" id="{311B2004-C3DE-4383-9D45-5CA6BBC0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39529247"/>
            <a:ext cx="844826" cy="245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3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43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2025估计</a:t>
            </a:r>
          </a:p>
        </p:txBody>
      </p:sp>
      <p:sp>
        <p:nvSpPr>
          <p:cNvPr id="267" name="F7-485">
            <a:extLst xmlns:a="http://schemas.openxmlformats.org/drawingml/2006/main">
              <a:ext uri="{FF2B5EF4-FFF2-40B4-BE49-F238E27FC236}">
                <a16:creationId xmlns:a16="http://schemas.microsoft.com/office/drawing/2014/main" id="{9A7D8956-DF9F-4A0E-AE1B-5CFDAD99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304" y="39466630"/>
            <a:ext cx="2169215" cy="2898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260"/>
          </a:solidFill>
          <a:ln xmlns:a="http://schemas.openxmlformats.org/drawingml/2006/main" w="0">
            <a:noFill/>
          </a:ln>
        </p:spPr>
      </p:sp>
      <p:sp>
        <p:nvSpPr>
          <p:cNvPr id="268" name="text-267">
            <a:extLst xmlns:a="http://schemas.openxmlformats.org/drawingml/2006/main">
              <a:ext uri="{FF2B5EF4-FFF2-40B4-BE49-F238E27FC236}">
                <a16:creationId xmlns:a16="http://schemas.microsoft.com/office/drawing/2014/main" id="{25D9AF45-4917-43DF-B80F-7829BAC4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911" y="39478889"/>
            <a:ext cx="463826" cy="29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96" b="1">
                <a:solidFill>
                  <a:srgbClr val="1F5260"/>
                </a:solidFill>
                <a:latin typeface="Noto Sans SC"/>
                <a:ea typeface="Noto Sans SC"/>
                <a:cs typeface="Noto Sans SC"/>
              </a:defRPr>
            </a:pPr>
            <a:r>
              <a:rPr sz="1696" b="1">
                <a:solidFill>
                  <a:srgbClr val="1F5260"/>
                </a:solidFill>
                <a:latin typeface="Noto Sans SC"/>
                <a:ea typeface="Noto Sans SC"/>
                <a:cs typeface="Noto Sans SC"/>
              </a:rPr>
              <a:t>485</a:t>
            </a:r>
          </a:p>
        </p:txBody>
      </p:sp>
      <p:sp>
        <p:nvSpPr>
          <p:cNvPr id="269" name="text-268">
            <a:extLst xmlns:a="http://schemas.openxmlformats.org/drawingml/2006/main">
              <a:ext uri="{FF2B5EF4-FFF2-40B4-BE49-F238E27FC236}">
                <a16:creationId xmlns:a16="http://schemas.microsoft.com/office/drawing/2014/main" id="{4B8D2113-7F8C-4AD4-BB99-5D80F14E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0075899"/>
            <a:ext cx="844826" cy="245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3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43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2030预测</a:t>
            </a:r>
          </a:p>
        </p:txBody>
      </p:sp>
      <p:sp>
        <p:nvSpPr>
          <p:cNvPr id="270" name="F7-950">
            <a:extLst xmlns:a="http://schemas.openxmlformats.org/drawingml/2006/main">
              <a:ext uri="{FF2B5EF4-FFF2-40B4-BE49-F238E27FC236}">
                <a16:creationId xmlns:a16="http://schemas.microsoft.com/office/drawing/2014/main" id="{62387E75-D852-4774-BDC1-A78F858B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304" y="40013283"/>
            <a:ext cx="4248978" cy="2898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2AE"/>
          </a:solidFill>
          <a:ln xmlns:a="http://schemas.openxmlformats.org/drawingml/2006/main" w="0">
            <a:noFill/>
          </a:ln>
        </p:spPr>
      </p:sp>
      <p:sp>
        <p:nvSpPr>
          <p:cNvPr id="271" name="text-270">
            <a:extLst xmlns:a="http://schemas.openxmlformats.org/drawingml/2006/main">
              <a:ext uri="{FF2B5EF4-FFF2-40B4-BE49-F238E27FC236}">
                <a16:creationId xmlns:a16="http://schemas.microsoft.com/office/drawing/2014/main" id="{7012D490-3EDB-4D1C-9865-9D7F3B7B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674" y="40025541"/>
            <a:ext cx="463826" cy="29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96" b="1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1696" b="1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950</a:t>
            </a:r>
          </a:p>
        </p:txBody>
      </p:sp>
      <p:sp>
        <p:nvSpPr>
          <p:cNvPr id="272" name="line-271">
            <a:extLst xmlns:a="http://schemas.openxmlformats.org/drawingml/2006/main">
              <a:ext uri="{FF2B5EF4-FFF2-40B4-BE49-F238E27FC236}">
                <a16:creationId xmlns:a16="http://schemas.microsoft.com/office/drawing/2014/main" id="{0F82DD93-612F-432A-BED5-21733381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304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73" name="line-272">
            <a:extLst xmlns:a="http://schemas.openxmlformats.org/drawingml/2006/main">
              <a:ext uri="{FF2B5EF4-FFF2-40B4-BE49-F238E27FC236}">
                <a16:creationId xmlns:a16="http://schemas.microsoft.com/office/drawing/2014/main" id="{08D6A89F-DC19-4769-823A-78E7D0E9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957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74" name="line-273">
            <a:extLst xmlns:a="http://schemas.openxmlformats.org/drawingml/2006/main">
              <a:ext uri="{FF2B5EF4-FFF2-40B4-BE49-F238E27FC236}">
                <a16:creationId xmlns:a16="http://schemas.microsoft.com/office/drawing/2014/main" id="{03FE5DE1-00F8-466D-9C5F-0EFFF927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609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75" name="line-274">
            <a:extLst xmlns:a="http://schemas.openxmlformats.org/drawingml/2006/main">
              <a:ext uri="{FF2B5EF4-FFF2-40B4-BE49-F238E27FC236}">
                <a16:creationId xmlns:a16="http://schemas.microsoft.com/office/drawing/2014/main" id="{9451B040-04AE-485C-A813-93C2940B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261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76" name="line-275">
            <a:extLst xmlns:a="http://schemas.openxmlformats.org/drawingml/2006/main">
              <a:ext uri="{FF2B5EF4-FFF2-40B4-BE49-F238E27FC236}">
                <a16:creationId xmlns:a16="http://schemas.microsoft.com/office/drawing/2014/main" id="{75E368FB-6EBB-4FE2-B797-3DAC21B4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913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77" name="line-276">
            <a:extLst xmlns:a="http://schemas.openxmlformats.org/drawingml/2006/main">
              <a:ext uri="{FF2B5EF4-FFF2-40B4-BE49-F238E27FC236}">
                <a16:creationId xmlns:a16="http://schemas.microsoft.com/office/drawing/2014/main" id="{046E70E4-DBB3-423E-AB47-64556A88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565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78" name="line-277">
            <a:extLst xmlns:a="http://schemas.openxmlformats.org/drawingml/2006/main">
              <a:ext uri="{FF2B5EF4-FFF2-40B4-BE49-F238E27FC236}">
                <a16:creationId xmlns:a16="http://schemas.microsoft.com/office/drawing/2014/main" id="{F18A919C-DA18-498E-B23A-7FF64A8E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217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79" name="line-278">
            <a:extLst xmlns:a="http://schemas.openxmlformats.org/drawingml/2006/main">
              <a:ext uri="{FF2B5EF4-FFF2-40B4-BE49-F238E27FC236}">
                <a16:creationId xmlns:a16="http://schemas.microsoft.com/office/drawing/2014/main" id="{4F3E42EC-6EA7-496D-83F9-C2B786F1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870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80" name="line-279">
            <a:extLst xmlns:a="http://schemas.openxmlformats.org/drawingml/2006/main">
              <a:ext uri="{FF2B5EF4-FFF2-40B4-BE49-F238E27FC236}">
                <a16:creationId xmlns:a16="http://schemas.microsoft.com/office/drawing/2014/main" id="{5978BE8A-FC6C-4A23-98BC-1D9AD7DE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1522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81" name="line-280">
            <a:extLst xmlns:a="http://schemas.openxmlformats.org/drawingml/2006/main">
              <a:ext uri="{FF2B5EF4-FFF2-40B4-BE49-F238E27FC236}">
                <a16:creationId xmlns:a16="http://schemas.microsoft.com/office/drawing/2014/main" id="{A1149E6E-F5B2-4FDC-BECA-81493A55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174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82" name="line-281">
            <a:extLst xmlns:a="http://schemas.openxmlformats.org/drawingml/2006/main">
              <a:ext uri="{FF2B5EF4-FFF2-40B4-BE49-F238E27FC236}">
                <a16:creationId xmlns:a16="http://schemas.microsoft.com/office/drawing/2014/main" id="{4C4804C4-46EF-4465-9F7E-1668EB9E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826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83" name="line-282">
            <a:extLst xmlns:a="http://schemas.openxmlformats.org/drawingml/2006/main">
              <a:ext uri="{FF2B5EF4-FFF2-40B4-BE49-F238E27FC236}">
                <a16:creationId xmlns:a16="http://schemas.microsoft.com/office/drawing/2014/main" id="{914B797F-17D2-4CC3-948E-C0CC9104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478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84" name="line-283">
            <a:extLst xmlns:a="http://schemas.openxmlformats.org/drawingml/2006/main">
              <a:ext uri="{FF2B5EF4-FFF2-40B4-BE49-F238E27FC236}">
                <a16:creationId xmlns:a16="http://schemas.microsoft.com/office/drawing/2014/main" id="{8B282789-5178-407C-82DF-02D9B73B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130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85" name="line-284">
            <a:extLst xmlns:a="http://schemas.openxmlformats.org/drawingml/2006/main">
              <a:ext uri="{FF2B5EF4-FFF2-40B4-BE49-F238E27FC236}">
                <a16:creationId xmlns:a16="http://schemas.microsoft.com/office/drawing/2014/main" id="{D4185D3C-F5D5-4122-8093-2CA3F003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783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86" name="line-285">
            <a:extLst xmlns:a="http://schemas.openxmlformats.org/drawingml/2006/main">
              <a:ext uri="{FF2B5EF4-FFF2-40B4-BE49-F238E27FC236}">
                <a16:creationId xmlns:a16="http://schemas.microsoft.com/office/drawing/2014/main" id="{6FAF67A7-9114-4C35-87B0-8823F8D8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435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87" name="line-286">
            <a:extLst xmlns:a="http://schemas.openxmlformats.org/drawingml/2006/main">
              <a:ext uri="{FF2B5EF4-FFF2-40B4-BE49-F238E27FC236}">
                <a16:creationId xmlns:a16="http://schemas.microsoft.com/office/drawing/2014/main" id="{84641D5F-1708-44BE-9611-67C32753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087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88" name="line-287">
            <a:extLst xmlns:a="http://schemas.openxmlformats.org/drawingml/2006/main">
              <a:ext uri="{FF2B5EF4-FFF2-40B4-BE49-F238E27FC236}">
                <a16:creationId xmlns:a16="http://schemas.microsoft.com/office/drawing/2014/main" id="{6880E7FF-F4BE-40CD-B9EA-9F96FE7F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739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89" name="line-288">
            <a:extLst xmlns:a="http://schemas.openxmlformats.org/drawingml/2006/main">
              <a:ext uri="{FF2B5EF4-FFF2-40B4-BE49-F238E27FC236}">
                <a16:creationId xmlns:a16="http://schemas.microsoft.com/office/drawing/2014/main" id="{F4249579-88CE-4259-A1A7-94D044C4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391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90" name="line-289">
            <a:extLst xmlns:a="http://schemas.openxmlformats.org/drawingml/2006/main">
              <a:ext uri="{FF2B5EF4-FFF2-40B4-BE49-F238E27FC236}">
                <a16:creationId xmlns:a16="http://schemas.microsoft.com/office/drawing/2014/main" id="{D98C12A9-ACC9-4230-B4AA-9EC187F1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043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91" name="line-290">
            <a:extLst xmlns:a="http://schemas.openxmlformats.org/drawingml/2006/main">
              <a:ext uri="{FF2B5EF4-FFF2-40B4-BE49-F238E27FC236}">
                <a16:creationId xmlns:a16="http://schemas.microsoft.com/office/drawing/2014/main" id="{2D7EBE8E-7B69-45F7-907A-C9EC294A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696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92" name="line-291">
            <a:extLst xmlns:a="http://schemas.openxmlformats.org/drawingml/2006/main">
              <a:ext uri="{FF2B5EF4-FFF2-40B4-BE49-F238E27FC236}">
                <a16:creationId xmlns:a16="http://schemas.microsoft.com/office/drawing/2014/main" id="{AC63697B-E452-46E8-B729-41C666D8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348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93" name="line-292">
            <a:extLst xmlns:a="http://schemas.openxmlformats.org/drawingml/2006/main">
              <a:ext uri="{FF2B5EF4-FFF2-40B4-BE49-F238E27FC236}">
                <a16:creationId xmlns:a16="http://schemas.microsoft.com/office/drawing/2014/main" id="{EB3F0C21-BAA0-4A24-8603-70DC3A53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94" name="line-293">
            <a:extLst xmlns:a="http://schemas.openxmlformats.org/drawingml/2006/main">
              <a:ext uri="{FF2B5EF4-FFF2-40B4-BE49-F238E27FC236}">
                <a16:creationId xmlns:a16="http://schemas.microsoft.com/office/drawing/2014/main" id="{3931AB39-A514-497C-93E7-24EFCAA1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652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95" name="line-294">
            <a:extLst xmlns:a="http://schemas.openxmlformats.org/drawingml/2006/main">
              <a:ext uri="{FF2B5EF4-FFF2-40B4-BE49-F238E27FC236}">
                <a16:creationId xmlns:a16="http://schemas.microsoft.com/office/drawing/2014/main" id="{16192A61-DB08-4BF2-B888-218EDB9E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6304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96" name="line-295">
            <a:extLst xmlns:a="http://schemas.openxmlformats.org/drawingml/2006/main">
              <a:ext uri="{FF2B5EF4-FFF2-40B4-BE49-F238E27FC236}">
                <a16:creationId xmlns:a16="http://schemas.microsoft.com/office/drawing/2014/main" id="{F060F867-7B13-469D-8088-FE164CF5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957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97" name="line-296">
            <a:extLst xmlns:a="http://schemas.openxmlformats.org/drawingml/2006/main">
              <a:ext uri="{FF2B5EF4-FFF2-40B4-BE49-F238E27FC236}">
                <a16:creationId xmlns:a16="http://schemas.microsoft.com/office/drawing/2014/main" id="{B9028F3E-DCAE-4628-884E-766AADE4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609" y="40013283"/>
            <a:ext cx="91109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298" name="line-297">
            <a:extLst xmlns:a="http://schemas.openxmlformats.org/drawingml/2006/main">
              <a:ext uri="{FF2B5EF4-FFF2-40B4-BE49-F238E27FC236}">
                <a16:creationId xmlns:a16="http://schemas.microsoft.com/office/drawing/2014/main" id="{67A771CB-F419-417E-A762-DDE69D57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304" y="40510239"/>
            <a:ext cx="4472609" cy="82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299" name="line-298">
            <a:extLst xmlns:a="http://schemas.openxmlformats.org/drawingml/2006/main">
              <a:ext uri="{FF2B5EF4-FFF2-40B4-BE49-F238E27FC236}">
                <a16:creationId xmlns:a16="http://schemas.microsoft.com/office/drawing/2014/main" id="{EDAFD7EB-7544-41D0-BA46-F0866500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304" y="40510239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300" name="text-299">
            <a:extLst xmlns:a="http://schemas.openxmlformats.org/drawingml/2006/main">
              <a:ext uri="{FF2B5EF4-FFF2-40B4-BE49-F238E27FC236}">
                <a16:creationId xmlns:a16="http://schemas.microsoft.com/office/drawing/2014/main" id="{697D7B11-4BB0-475F-98AF-8FB59396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478" y="40615097"/>
            <a:ext cx="190500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0</a:t>
            </a:r>
          </a:p>
        </p:txBody>
      </p:sp>
      <p:sp>
        <p:nvSpPr>
          <p:cNvPr id="301" name="line-300">
            <a:extLst xmlns:a="http://schemas.openxmlformats.org/drawingml/2006/main">
              <a:ext uri="{FF2B5EF4-FFF2-40B4-BE49-F238E27FC236}">
                <a16:creationId xmlns:a16="http://schemas.microsoft.com/office/drawing/2014/main" id="{B123BDE4-302E-4382-AA4C-F83BB0EE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457" y="40510239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302" name="text-301">
            <a:extLst xmlns:a="http://schemas.openxmlformats.org/drawingml/2006/main">
              <a:ext uri="{FF2B5EF4-FFF2-40B4-BE49-F238E27FC236}">
                <a16:creationId xmlns:a16="http://schemas.microsoft.com/office/drawing/2014/main" id="{18BB8F3B-EC61-4083-92EA-766D2065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630" y="40615097"/>
            <a:ext cx="339587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250</a:t>
            </a:r>
          </a:p>
        </p:txBody>
      </p:sp>
      <p:sp>
        <p:nvSpPr>
          <p:cNvPr id="303" name="line-302">
            <a:extLst xmlns:a="http://schemas.openxmlformats.org/drawingml/2006/main">
              <a:ext uri="{FF2B5EF4-FFF2-40B4-BE49-F238E27FC236}">
                <a16:creationId xmlns:a16="http://schemas.microsoft.com/office/drawing/2014/main" id="{986E81C3-D8ED-4810-884D-1AEDBCAB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609" y="40510239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304" name="text-303">
            <a:extLst xmlns:a="http://schemas.openxmlformats.org/drawingml/2006/main">
              <a:ext uri="{FF2B5EF4-FFF2-40B4-BE49-F238E27FC236}">
                <a16:creationId xmlns:a16="http://schemas.microsoft.com/office/drawing/2014/main" id="{B9EDC7F1-894C-47D8-BC9D-7CA663B7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783" y="40615097"/>
            <a:ext cx="339587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500</a:t>
            </a:r>
          </a:p>
        </p:txBody>
      </p:sp>
      <p:sp>
        <p:nvSpPr>
          <p:cNvPr id="305" name="line-304">
            <a:extLst xmlns:a="http://schemas.openxmlformats.org/drawingml/2006/main">
              <a:ext uri="{FF2B5EF4-FFF2-40B4-BE49-F238E27FC236}">
                <a16:creationId xmlns:a16="http://schemas.microsoft.com/office/drawing/2014/main" id="{FCB699EF-510E-4AC4-821D-81D5E772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761" y="40510239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306" name="text-305">
            <a:extLst xmlns:a="http://schemas.openxmlformats.org/drawingml/2006/main">
              <a:ext uri="{FF2B5EF4-FFF2-40B4-BE49-F238E27FC236}">
                <a16:creationId xmlns:a16="http://schemas.microsoft.com/office/drawing/2014/main" id="{AAF93971-2D00-4883-9E23-430B3CDE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935" y="40615097"/>
            <a:ext cx="339587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750</a:t>
            </a:r>
          </a:p>
        </p:txBody>
      </p:sp>
      <p:sp>
        <p:nvSpPr>
          <p:cNvPr id="307" name="line-306">
            <a:extLst xmlns:a="http://schemas.openxmlformats.org/drawingml/2006/main">
              <a:ext uri="{FF2B5EF4-FFF2-40B4-BE49-F238E27FC236}">
                <a16:creationId xmlns:a16="http://schemas.microsoft.com/office/drawing/2014/main" id="{F7EF0A2C-F7DC-4E19-9A87-F5D574F9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913" y="40510239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308" name="text-307">
            <a:extLst xmlns:a="http://schemas.openxmlformats.org/drawingml/2006/main">
              <a:ext uri="{FF2B5EF4-FFF2-40B4-BE49-F238E27FC236}">
                <a16:creationId xmlns:a16="http://schemas.microsoft.com/office/drawing/2014/main" id="{CB21B052-48C3-4B1E-A84D-C5391008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087" y="40615097"/>
            <a:ext cx="414130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1000</a:t>
            </a:r>
          </a:p>
        </p:txBody>
      </p:sp>
      <p:sp>
        <p:nvSpPr>
          <p:cNvPr id="309" name="text-308">
            <a:extLst xmlns:a="http://schemas.openxmlformats.org/drawingml/2006/main">
              <a:ext uri="{FF2B5EF4-FFF2-40B4-BE49-F238E27FC236}">
                <a16:creationId xmlns:a16="http://schemas.microsoft.com/office/drawing/2014/main" id="{3668294C-6039-4687-BBD8-2907C97C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0929670"/>
            <a:ext cx="7371522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S4  ·  2030为IEA中心情景预测；统计范围为所有数据中心，不是AI单独用电。</a:t>
            </a:r>
          </a:p>
        </p:txBody>
      </p:sp>
      <p:sp>
        <p:nvSpPr>
          <p:cNvPr id="310" name="text-309">
            <a:extLst xmlns:a="http://schemas.openxmlformats.org/drawingml/2006/main">
              <a:ext uri="{FF2B5EF4-FFF2-40B4-BE49-F238E27FC236}">
                <a16:creationId xmlns:a16="http://schemas.microsoft.com/office/drawing/2014/main" id="{A6506CBF-EE57-4193-9614-5CCAD525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1550866"/>
            <a:ext cx="339587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1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1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图8</a:t>
            </a:r>
          </a:p>
        </p:txBody>
      </p:sp>
      <p:sp>
        <p:nvSpPr>
          <p:cNvPr id="311" name="text-310">
            <a:extLst xmlns:a="http://schemas.openxmlformats.org/drawingml/2006/main">
              <a:ext uri="{FF2B5EF4-FFF2-40B4-BE49-F238E27FC236}">
                <a16:creationId xmlns:a16="http://schemas.microsoft.com/office/drawing/2014/main" id="{73285EED-686A-40E2-86D5-10D4683B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3" y="41483280"/>
            <a:ext cx="3097696" cy="29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96" b="1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696" b="1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AI专用数据中心，用电增速更快</a:t>
            </a:r>
          </a:p>
        </p:txBody>
      </p:sp>
      <p:sp>
        <p:nvSpPr>
          <p:cNvPr id="312" name="text-311">
            <a:extLst xmlns:a="http://schemas.openxmlformats.org/drawingml/2006/main">
              <a:ext uri="{FF2B5EF4-FFF2-40B4-BE49-F238E27FC236}">
                <a16:creationId xmlns:a16="http://schemas.microsoft.com/office/drawing/2014/main" id="{7FA12390-351A-4C77-A428-E4D07406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1865605"/>
            <a:ext cx="2045804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2025年用电量同比增长（%）</a:t>
            </a:r>
          </a:p>
        </p:txBody>
      </p:sp>
      <p:sp>
        <p:nvSpPr>
          <p:cNvPr id="313" name="text-312">
            <a:extLst xmlns:a="http://schemas.openxmlformats.org/drawingml/2006/main">
              <a:ext uri="{FF2B5EF4-FFF2-40B4-BE49-F238E27FC236}">
                <a16:creationId xmlns:a16="http://schemas.microsoft.com/office/drawing/2014/main" id="{D6861ABF-7486-40BF-91CD-0A96B934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2395030"/>
            <a:ext cx="1209261" cy="245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3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43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所有数据中心</a:t>
            </a:r>
          </a:p>
        </p:txBody>
      </p:sp>
      <p:sp>
        <p:nvSpPr>
          <p:cNvPr id="314" name="F8-0">
            <a:extLst xmlns:a="http://schemas.openxmlformats.org/drawingml/2006/main">
              <a:ext uri="{FF2B5EF4-FFF2-40B4-BE49-F238E27FC236}">
                <a16:creationId xmlns:a16="http://schemas.microsoft.com/office/drawing/2014/main" id="{5A92DC1B-0D62-46A0-88FB-3D318A62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435" y="42340696"/>
            <a:ext cx="704022" cy="2898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315" name="text-314">
            <a:extLst xmlns:a="http://schemas.openxmlformats.org/drawingml/2006/main">
              <a:ext uri="{FF2B5EF4-FFF2-40B4-BE49-F238E27FC236}">
                <a16:creationId xmlns:a16="http://schemas.microsoft.com/office/drawing/2014/main" id="{CD45962F-E9EF-469D-891C-8309A099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130" y="42352788"/>
            <a:ext cx="538370" cy="301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1" b="1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761" b="1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17%</a:t>
            </a:r>
          </a:p>
        </p:txBody>
      </p:sp>
      <p:sp>
        <p:nvSpPr>
          <p:cNvPr id="316" name="text-315">
            <a:extLst xmlns:a="http://schemas.openxmlformats.org/drawingml/2006/main">
              <a:ext uri="{FF2B5EF4-FFF2-40B4-BE49-F238E27FC236}">
                <a16:creationId xmlns:a16="http://schemas.microsoft.com/office/drawing/2014/main" id="{3FFD05AB-CED6-4D85-A6FA-52733CB8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2949964"/>
            <a:ext cx="1358348" cy="245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3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43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AI专用数据中心</a:t>
            </a:r>
          </a:p>
        </p:txBody>
      </p:sp>
      <p:sp>
        <p:nvSpPr>
          <p:cNvPr id="317" name="F8-1">
            <a:extLst xmlns:a="http://schemas.openxmlformats.org/drawingml/2006/main">
              <a:ext uri="{FF2B5EF4-FFF2-40B4-BE49-F238E27FC236}">
                <a16:creationId xmlns:a16="http://schemas.microsoft.com/office/drawing/2014/main" id="{FACB1CF3-E7DA-4B4E-BB78-97B6DE83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435" y="42895630"/>
            <a:ext cx="2070652" cy="2898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2F"/>
          </a:solidFill>
          <a:ln xmlns:a="http://schemas.openxmlformats.org/drawingml/2006/main" w="0">
            <a:noFill/>
          </a:ln>
        </p:spPr>
      </p:sp>
      <p:sp>
        <p:nvSpPr>
          <p:cNvPr id="318" name="text-317">
            <a:extLst xmlns:a="http://schemas.openxmlformats.org/drawingml/2006/main">
              <a:ext uri="{FF2B5EF4-FFF2-40B4-BE49-F238E27FC236}">
                <a16:creationId xmlns:a16="http://schemas.microsoft.com/office/drawing/2014/main" id="{7DA66AD5-8592-4896-8EA6-C6ECCA59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761" y="42907723"/>
            <a:ext cx="538370" cy="301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1" b="1">
                <a:solidFill>
                  <a:srgbClr val="B8432F"/>
                </a:solidFill>
                <a:latin typeface="Noto Sans SC"/>
                <a:ea typeface="Noto Sans SC"/>
                <a:cs typeface="Noto Sans SC"/>
              </a:defRPr>
            </a:pPr>
            <a:r>
              <a:rPr sz="1761" b="1">
                <a:solidFill>
                  <a:srgbClr val="B8432F"/>
                </a:solidFill>
                <a:latin typeface="Noto Sans SC"/>
                <a:ea typeface="Noto Sans SC"/>
                <a:cs typeface="Noto Sans SC"/>
              </a:rPr>
              <a:t>50%</a:t>
            </a:r>
          </a:p>
        </p:txBody>
      </p:sp>
      <p:sp>
        <p:nvSpPr>
          <p:cNvPr id="319" name="line-318">
            <a:extLst xmlns:a="http://schemas.openxmlformats.org/drawingml/2006/main">
              <a:ext uri="{FF2B5EF4-FFF2-40B4-BE49-F238E27FC236}">
                <a16:creationId xmlns:a16="http://schemas.microsoft.com/office/drawing/2014/main" id="{5E4B6D45-7DC7-4644-892B-A3421565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435" y="43417435"/>
            <a:ext cx="4141304" cy="82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320" name="line-319">
            <a:extLst xmlns:a="http://schemas.openxmlformats.org/drawingml/2006/main">
              <a:ext uri="{FF2B5EF4-FFF2-40B4-BE49-F238E27FC236}">
                <a16:creationId xmlns:a16="http://schemas.microsoft.com/office/drawing/2014/main" id="{C3B69DCA-50E8-40FD-8167-D6F913B0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435" y="43417435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321" name="text-320">
            <a:extLst xmlns:a="http://schemas.openxmlformats.org/drawingml/2006/main">
              <a:ext uri="{FF2B5EF4-FFF2-40B4-BE49-F238E27FC236}">
                <a16:creationId xmlns:a16="http://schemas.microsoft.com/office/drawing/2014/main" id="{9D2023B9-941C-4CBC-82E7-C3C55DC5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609" y="43522293"/>
            <a:ext cx="190500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0</a:t>
            </a:r>
          </a:p>
        </p:txBody>
      </p:sp>
      <p:sp>
        <p:nvSpPr>
          <p:cNvPr id="322" name="line-321">
            <a:extLst xmlns:a="http://schemas.openxmlformats.org/drawingml/2006/main">
              <a:ext uri="{FF2B5EF4-FFF2-40B4-BE49-F238E27FC236}">
                <a16:creationId xmlns:a16="http://schemas.microsoft.com/office/drawing/2014/main" id="{83C64CB6-6E79-4C24-B594-372C988F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761" y="43417435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323" name="text-322">
            <a:extLst xmlns:a="http://schemas.openxmlformats.org/drawingml/2006/main">
              <a:ext uri="{FF2B5EF4-FFF2-40B4-BE49-F238E27FC236}">
                <a16:creationId xmlns:a16="http://schemas.microsoft.com/office/drawing/2014/main" id="{8031A8D9-6B46-455B-A859-5772455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935" y="43522293"/>
            <a:ext cx="265043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25</a:t>
            </a:r>
          </a:p>
        </p:txBody>
      </p:sp>
      <p:sp>
        <p:nvSpPr>
          <p:cNvPr id="324" name="line-323">
            <a:extLst xmlns:a="http://schemas.openxmlformats.org/drawingml/2006/main">
              <a:ext uri="{FF2B5EF4-FFF2-40B4-BE49-F238E27FC236}">
                <a16:creationId xmlns:a16="http://schemas.microsoft.com/office/drawing/2014/main" id="{08C23ACB-68F2-4EAC-8042-B05E17B1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087" y="43417435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325" name="text-324">
            <a:extLst xmlns:a="http://schemas.openxmlformats.org/drawingml/2006/main">
              <a:ext uri="{FF2B5EF4-FFF2-40B4-BE49-F238E27FC236}">
                <a16:creationId xmlns:a16="http://schemas.microsoft.com/office/drawing/2014/main" id="{A6DC2ACF-AC99-4C96-9A24-B89EB198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261" y="43522293"/>
            <a:ext cx="265043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50</a:t>
            </a:r>
          </a:p>
        </p:txBody>
      </p:sp>
      <p:sp>
        <p:nvSpPr>
          <p:cNvPr id="326" name="line-325">
            <a:extLst xmlns:a="http://schemas.openxmlformats.org/drawingml/2006/main">
              <a:ext uri="{FF2B5EF4-FFF2-40B4-BE49-F238E27FC236}">
                <a16:creationId xmlns:a16="http://schemas.microsoft.com/office/drawing/2014/main" id="{EACA9A91-5E5E-4F55-B102-FF8AF32A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413" y="43417435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327" name="text-326">
            <a:extLst xmlns:a="http://schemas.openxmlformats.org/drawingml/2006/main">
              <a:ext uri="{FF2B5EF4-FFF2-40B4-BE49-F238E27FC236}">
                <a16:creationId xmlns:a16="http://schemas.microsoft.com/office/drawing/2014/main" id="{309A6AFF-7A1B-4D9C-8439-E4098AF4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587" y="43522293"/>
            <a:ext cx="265043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75</a:t>
            </a:r>
          </a:p>
        </p:txBody>
      </p:sp>
      <p:sp>
        <p:nvSpPr>
          <p:cNvPr id="328" name="line-327">
            <a:extLst xmlns:a="http://schemas.openxmlformats.org/drawingml/2006/main">
              <a:ext uri="{FF2B5EF4-FFF2-40B4-BE49-F238E27FC236}">
                <a16:creationId xmlns:a16="http://schemas.microsoft.com/office/drawing/2014/main" id="{AE92A927-4759-44BA-8927-BA40178B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739" y="43417435"/>
            <a:ext cx="8283" cy="57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6C"/>
          </a:solidFill>
          <a:ln xmlns:a="http://schemas.openxmlformats.org/drawingml/2006/main" w="0">
            <a:noFill/>
          </a:ln>
        </p:spPr>
      </p:sp>
      <p:sp>
        <p:nvSpPr>
          <p:cNvPr id="329" name="text-328">
            <a:extLst xmlns:a="http://schemas.openxmlformats.org/drawingml/2006/main">
              <a:ext uri="{FF2B5EF4-FFF2-40B4-BE49-F238E27FC236}">
                <a16:creationId xmlns:a16="http://schemas.microsoft.com/office/drawing/2014/main" id="{83DE6C36-2F0B-4D02-9602-2850794F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913" y="43522293"/>
            <a:ext cx="339587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100</a:t>
            </a:r>
          </a:p>
        </p:txBody>
      </p:sp>
      <p:sp>
        <p:nvSpPr>
          <p:cNvPr id="330" name="text-329">
            <a:extLst xmlns:a="http://schemas.openxmlformats.org/drawingml/2006/main">
              <a:ext uri="{FF2B5EF4-FFF2-40B4-BE49-F238E27FC236}">
                <a16:creationId xmlns:a16="http://schemas.microsoft.com/office/drawing/2014/main" id="{846412E0-8BC3-4C12-9B90-957BB13D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3803736"/>
            <a:ext cx="7371522" cy="20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74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S4  ·  两类数据中心的同比增速，不是用电份额；AI专用数据中心属于较窄的范围。</a:t>
            </a:r>
          </a:p>
        </p:txBody>
      </p:sp>
      <p:sp>
        <p:nvSpPr>
          <p:cNvPr id="331" name="text-330">
            <a:extLst xmlns:a="http://schemas.openxmlformats.org/drawingml/2006/main">
              <a:ext uri="{FF2B5EF4-FFF2-40B4-BE49-F238E27FC236}">
                <a16:creationId xmlns:a16="http://schemas.microsoft.com/office/drawing/2014/main" id="{F7763142-C1C7-4DDB-8638-4FA4E674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4357677"/>
            <a:ext cx="7371522" cy="26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更大的部署规模，意味着模型调用之外还要算上人员、流程和基础设施。运行成本</a:t>
            </a:r>
          </a:p>
        </p:txBody>
      </p:sp>
      <p:sp>
        <p:nvSpPr>
          <p:cNvPr id="332" name="text-331">
            <a:extLst xmlns:a="http://schemas.openxmlformats.org/drawingml/2006/main">
              <a:ext uri="{FF2B5EF4-FFF2-40B4-BE49-F238E27FC236}">
                <a16:creationId xmlns:a16="http://schemas.microsoft.com/office/drawing/2014/main" id="{A74EB6A1-C8C2-4F72-B6B8-D83C0BF4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4655850"/>
            <a:ext cx="7371522" cy="26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已成为部分企业限制AI使用的原因。</a:t>
            </a:r>
          </a:p>
        </p:txBody>
      </p:sp>
      <p:sp>
        <p:nvSpPr>
          <p:cNvPr id="333" name="line-332">
            <a:extLst xmlns:a="http://schemas.openxmlformats.org/drawingml/2006/main">
              <a:ext uri="{FF2B5EF4-FFF2-40B4-BE49-F238E27FC236}">
                <a16:creationId xmlns:a16="http://schemas.microsoft.com/office/drawing/2014/main" id="{11AF358D-5A17-4E6F-B3D8-66972883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5554348"/>
            <a:ext cx="7321826" cy="16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1C"/>
          </a:solidFill>
          <a:ln xmlns:a="http://schemas.openxmlformats.org/drawingml/2006/main" w="0">
            <a:noFill/>
          </a:ln>
        </p:spPr>
      </p:sp>
      <p:sp>
        <p:nvSpPr>
          <p:cNvPr id="334" name="text-333">
            <a:extLst xmlns:a="http://schemas.openxmlformats.org/drawingml/2006/main">
              <a:ext uri="{FF2B5EF4-FFF2-40B4-BE49-F238E27FC236}">
                <a16:creationId xmlns:a16="http://schemas.microsoft.com/office/drawing/2014/main" id="{0A4105C6-ED93-4F64-A286-70D7AA0C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5747167"/>
            <a:ext cx="2203174" cy="402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48" b="1">
                <a:solidFill>
                  <a:srgbClr val="171C1C"/>
                </a:solidFill>
                <a:latin typeface="Noto Serif SC"/>
                <a:ea typeface="Noto Serif SC"/>
                <a:cs typeface="Noto Serif SC"/>
              </a:defRPr>
            </a:pPr>
            <a:r>
              <a:rPr sz="2348" b="1">
                <a:solidFill>
                  <a:srgbClr val="171C1C"/>
                </a:solidFill>
                <a:latin typeface="Noto Serif SC"/>
                <a:ea typeface="Noto Serif SC"/>
                <a:cs typeface="Noto Serif SC"/>
              </a:rPr>
              <a:t>下一步，看什么</a:t>
            </a:r>
          </a:p>
        </p:txBody>
      </p:sp>
      <p:pic>
        <p:nvPicPr>
          <p:cNvPr id="6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cdf49196c461d"/>
          <a:stretch xmlns:a="http://schemas.openxmlformats.org/drawingml/2006/main"/>
        </p:blipFill>
        <p:spPr>
          <a:xfrm xmlns:a="http://schemas.openxmlformats.org/drawingml/2006/main">
            <a:off x="5615609" y="45720000"/>
            <a:ext cx="2286000" cy="1524000"/>
          </a:xfrm>
          <a:prstGeom xmlns:a="http://schemas.openxmlformats.org/drawingml/2006/main" prst="rect">
            <a:avLst/>
          </a:prstGeom>
        </p:spPr>
      </p:pic>
      <p:sp>
        <p:nvSpPr>
          <p:cNvPr id="336" name="text-335">
            <a:extLst xmlns:a="http://schemas.openxmlformats.org/drawingml/2006/main">
              <a:ext uri="{FF2B5EF4-FFF2-40B4-BE49-F238E27FC236}">
                <a16:creationId xmlns:a16="http://schemas.microsoft.com/office/drawing/2014/main" id="{03CDE4B9-7BBD-4BE2-ACDD-52353A86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6295807"/>
            <a:ext cx="4969565" cy="26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看任务是否交付成功，看核验和返工花了多久，</a:t>
            </a:r>
          </a:p>
        </p:txBody>
      </p:sp>
      <p:sp>
        <p:nvSpPr>
          <p:cNvPr id="337" name="text-336">
            <a:extLst xmlns:a="http://schemas.openxmlformats.org/drawingml/2006/main">
              <a:ext uri="{FF2B5EF4-FFF2-40B4-BE49-F238E27FC236}">
                <a16:creationId xmlns:a16="http://schemas.microsoft.com/office/drawing/2014/main" id="{44F4D56F-B243-4094-8528-694D0118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6593981"/>
            <a:ext cx="4969565" cy="26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看总成本是否下降。</a:t>
            </a:r>
          </a:p>
        </p:txBody>
      </p:sp>
      <p:sp>
        <p:nvSpPr>
          <p:cNvPr id="338" name="text-337">
            <a:extLst xmlns:a="http://schemas.openxmlformats.org/drawingml/2006/main">
              <a:ext uri="{FF2B5EF4-FFF2-40B4-BE49-F238E27FC236}">
                <a16:creationId xmlns:a16="http://schemas.microsoft.com/office/drawing/2014/main" id="{B3595263-BFFA-4A53-8AF6-8C6052FB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6892155"/>
            <a:ext cx="4969565" cy="26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defRPr>
            </a:pPr>
            <a:r>
              <a:rPr sz="1565" b="0">
                <a:solidFill>
                  <a:srgbClr val="171C1C"/>
                </a:solidFill>
                <a:latin typeface="Noto Sans SC"/>
                <a:ea typeface="Noto Sans SC"/>
                <a:cs typeface="Noto Sans SC"/>
              </a:rPr>
              <a:t>AI走进工作流之后，价值仍要在具体工作里证明。</a:t>
            </a:r>
          </a:p>
        </p:txBody>
      </p:sp>
      <p:sp>
        <p:nvSpPr>
          <p:cNvPr id="339" name="text-338">
            <a:extLst xmlns:a="http://schemas.openxmlformats.org/drawingml/2006/main">
              <a:ext uri="{FF2B5EF4-FFF2-40B4-BE49-F238E27FC236}">
                <a16:creationId xmlns:a16="http://schemas.microsoft.com/office/drawing/2014/main" id="{C5440634-B1AF-480F-85A0-319F01AC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7530578"/>
            <a:ext cx="944217" cy="223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4" b="1">
                <a:solidFill>
                  <a:srgbClr val="1F5260"/>
                </a:solidFill>
                <a:latin typeface="Noto Sans SC"/>
                <a:ea typeface="Noto Sans SC"/>
                <a:cs typeface="Noto Sans SC"/>
              </a:defRPr>
            </a:pPr>
            <a:r>
              <a:rPr sz="1304" b="1">
                <a:solidFill>
                  <a:srgbClr val="1F5260"/>
                </a:solidFill>
                <a:latin typeface="Noto Sans SC"/>
                <a:ea typeface="Noto Sans SC"/>
                <a:cs typeface="Noto Sans SC"/>
              </a:rPr>
              <a:t>来源与口径</a:t>
            </a:r>
          </a:p>
        </p:txBody>
      </p:sp>
      <p:sp>
        <p:nvSpPr>
          <p:cNvPr id="340" name="text-339">
            <a:extLst xmlns:a="http://schemas.openxmlformats.org/drawingml/2006/main">
              <a:ext uri="{FF2B5EF4-FFF2-40B4-BE49-F238E27FC236}">
                <a16:creationId xmlns:a16="http://schemas.microsoft.com/office/drawing/2014/main" id="{5BAAC7A5-5C37-4E25-88E9-0F50D2BD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7820967"/>
            <a:ext cx="3851413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S1  McKinsey，2026全球问卷，n=1719，97国，按GDP加权</a:t>
            </a:r>
          </a:p>
        </p:txBody>
      </p:sp>
      <p:sp>
        <p:nvSpPr>
          <p:cNvPr id="341" name="text-340">
            <a:extLst xmlns:a="http://schemas.openxmlformats.org/drawingml/2006/main">
              <a:ext uri="{FF2B5EF4-FFF2-40B4-BE49-F238E27FC236}">
                <a16:creationId xmlns:a16="http://schemas.microsoft.com/office/drawing/2014/main" id="{A06B15EC-AE78-4E5C-8A9B-6A1B8C72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8052880"/>
            <a:ext cx="3727174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S2  Stanford HAI《AI Index 2026》技术章节，pp.113–114</a:t>
            </a:r>
          </a:p>
        </p:txBody>
      </p:sp>
      <p:sp>
        <p:nvSpPr>
          <p:cNvPr id="342" name="text-341">
            <a:extLst xmlns:a="http://schemas.openxmlformats.org/drawingml/2006/main">
              <a:ext uri="{FF2B5EF4-FFF2-40B4-BE49-F238E27FC236}">
                <a16:creationId xmlns:a16="http://schemas.microsoft.com/office/drawing/2014/main" id="{F764CB67-FC50-4619-A1D8-73C0FB1E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8284793"/>
            <a:ext cx="4025348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109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S3  METR，2026.02.24研究更新  ·  S4  IEA，2026能源与AI报告</a:t>
            </a:r>
          </a:p>
        </p:txBody>
      </p:sp>
      <p:sp>
        <p:nvSpPr>
          <p:cNvPr id="343" name="bottom-source-proof">
            <a:extLst xmlns:a="http://schemas.openxmlformats.org/drawingml/2006/main">
              <a:ext uri="{FF2B5EF4-FFF2-40B4-BE49-F238E27FC236}">
                <a16:creationId xmlns:a16="http://schemas.microsoft.com/office/drawing/2014/main" id="{32883570-CE86-4778-AE4B-91C24245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3" y="48516871"/>
            <a:ext cx="4298674" cy="178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43" b="0">
                <a:solidFill>
                  <a:srgbClr val="65716C"/>
                </a:solidFill>
                <a:latin typeface="Noto Sans SC"/>
                <a:ea typeface="Noto Sans SC"/>
                <a:cs typeface="Noto Sans SC"/>
              </a:defRPr>
            </a:pPr>
            <a:r>
              <a:rPr sz="1043" b="0">
                <a:solidFill>
                  <a:srgbClr val="65716C"/>
                </a:solidFill>
                <a:latin typeface="Noto Sans SC"/>
                <a:ea typeface="Noto Sans SC"/>
                <a:cs typeface="Noto Sans SC"/>
              </a:rPr>
              <a:t>完整链接与数据见附带来源表  ·  插画由Image-2生成，图表按来源重绘</a:t>
            </a:r>
          </a:p>
        </p:txBody>
      </p:sp>
    </p:spTree>
    <p:extLst>
      <p:ext uri="{BB962C8B-B14F-4D97-AF65-F5344CB8AC3E}">
        <p14:creationId xmlns:p14="http://schemas.microsoft.com/office/powerpoint/2010/main" val="1874808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2026-10-06T13:18:58.5680000Z</dcterms:created>
  <dcterms:modified xsi:type="dcterms:W3CDTF">2026-10-06T13:18:58.5680000Z</dcterms:modified>
</coreProperties>
</file>